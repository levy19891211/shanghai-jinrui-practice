
<file path=[Content_Types].xml><?xml version="1.0" encoding="utf-8"?>
<Types xmlns="http://schemas.openxmlformats.org/package/2006/content-types">
  <Default Extension="svg" ContentType="image/svg+xml"/>
  <Default Extension="png" ContentType="image/png"/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viewProps.xml" ContentType="application/vnd.openxmlformats-officedocument.presentationml.viewProps+xml"/>
  <Override PartName="/ppt/slides/slide15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22" Type="http://schemas.openxmlformats.org/officeDocument/2006/relationships/viewProps" Target="viewProps.xml" /><Relationship Id="rId21" Type="http://schemas.openxmlformats.org/officeDocument/2006/relationships/tableStyles" Target="tableStyles.xml" /><Relationship Id="rId20" Type="http://schemas.openxmlformats.org/officeDocument/2006/relationships/presProps" Target="presProps.xml" /><Relationship Id="rId19" Type="http://schemas.openxmlformats.org/officeDocument/2006/relationships/notesMaster" Target="notesMasters/notesMaster1.xml" /><Relationship Id="rId1" Type="http://schemas.openxmlformats.org/officeDocument/2006/relationships/slide" Target="slides/slide1.xml" /><Relationship Id="rId17" Type="http://schemas.openxmlformats.org/officeDocument/2006/relationships/slide" Target="slides/slide17.xml" /><Relationship Id="rId2" Type="http://schemas.openxmlformats.org/officeDocument/2006/relationships/slide" Target="slides/slide2.xml" /><Relationship Id="rId16" Type="http://schemas.openxmlformats.org/officeDocument/2006/relationships/slide" Target="slides/slide16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8" Type="http://schemas.openxmlformats.org/officeDocument/2006/relationships/slide" Target="slides/slide18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10.svg" /><Relationship Id="rId3" Type="http://schemas.openxmlformats.org/officeDocument/2006/relationships/image" Target="media/image17.png" /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3" Type="http://schemas.openxmlformats.org/officeDocument/2006/relationships/image" Target="media/image19.svg" /><Relationship Id="rId2" Type="http://schemas.openxmlformats.org/officeDocument/2006/relationships/image" Target="media/image18.svg" /><Relationship Id="rId4" Type="http://schemas.openxmlformats.org/officeDocument/2006/relationships/image" Target="media/image20.svg" /><Relationship Id="rId1" Type="http://schemas.openxmlformats.org/officeDocument/2006/relationships/image" Target="media/image17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21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2" Type="http://schemas.openxmlformats.org/officeDocument/2006/relationships/image" Target="media/image23.png" /><Relationship Id="rId1" Type="http://schemas.openxmlformats.org/officeDocument/2006/relationships/image" Target="media/image22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24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2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6" Type="http://schemas.openxmlformats.org/officeDocument/2006/relationships/image" Target="media/image10.svg" /><Relationship Id="rId5" Type="http://schemas.openxmlformats.org/officeDocument/2006/relationships/image" Target="media/image9.svg" /><Relationship Id="rId3" Type="http://schemas.openxmlformats.org/officeDocument/2006/relationships/image" Target="media/image7.svg" /><Relationship Id="rId4" Type="http://schemas.openxmlformats.org/officeDocument/2006/relationships/image" Target="media/image8.svg" /><Relationship Id="rId2" Type="http://schemas.openxmlformats.org/officeDocument/2006/relationships/image" Target="media/image6.svg" /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2" Type="http://schemas.openxmlformats.org/officeDocument/2006/relationships/image" Target="media/image10.svg" /><Relationship Id="rId1" Type="http://schemas.openxmlformats.org/officeDocument/2006/relationships/image" Target="media/image11.svg" /><Relationship Id="rId0" Type="http://schemas.openxmlformats.org/officeDocument/2006/relationships/slideLayout" Target="../slideLayouts/slideLayout1.xml" /></Relationships>
</file>

<file path=ppt/slides/_rels/slide17.xml.rels><?xml version="1.0" encoding="UTF-8" standalone="yes"?><Relationships xmlns="http://schemas.openxmlformats.org/package/2006/relationships"><Relationship Id="rId4" Type="http://schemas.openxmlformats.org/officeDocument/2006/relationships/image" Target="media/image14.svg" /><Relationship Id="rId5" Type="http://schemas.openxmlformats.org/officeDocument/2006/relationships/image" Target="media/image15.svg" /><Relationship Id="rId3" Type="http://schemas.openxmlformats.org/officeDocument/2006/relationships/image" Target="media/image13.svg" /><Relationship Id="rId2" Type="http://schemas.openxmlformats.org/officeDocument/2006/relationships/image" Target="media/image12.svg" /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&#10;  width: '1280px',&#10;  height: '720px',&#10;  background: '#0A0F1E',&#10;  padding: 0,&#10;  position: 'relative',&#10;  overflow: 'hidden',&#10;  display: 'flex',&#10;  flexDirection: 'column',&#10;  justifyContent: 'center',&#10;  alignItems: 'center',&#10;}}&gt;&#10;  &lt;Box style={{&#10;    position: 'absolute',&#10;    top: -200,&#10;    right: -200,&#10;    width: 800,&#10;    height: 800,&#10;    background: 'radial-gradient(circle at 50% 50%, rgba(37,99,235,0.22), transparent 60%)',&#10;    borderRadius: '50%',&#10;  }} /&gt;&#10;  &lt;Box style={{&#10;    position: 'absolute',&#10;    bottom: -160,&#10;    left: -160,&#10;    width: 600,&#10;    height: 600,&#10;    background: 'radial-gradient(circle at 50% 50%, rgba(212,175,55,0.12), transparent 60%)',&#10;    borderRadius: '50%',&#10;  }} /&gt;&#10;  &lt;Box style={{&#10;    position: 'relative',&#10;    zIndex: 2,&#10;    flexDirection: 'column',&#10;    alignItems: 'center',&#10;    gap: 24,&#10;  }}&gt;&#10;    &lt;Text style={{&#10;      fontSize: 72,&#10;      fontWeight: 'bold',&#10;      color: '#F8FAFC',&#10;      letterSpacing: 3,&#10;      textAlign: 'center',&#10;      fontFamily: '&quot;PingFang SC&quot;,&quot;Microsoft YaHei&quot;,sans-serif',&#10;    }}&gt;&#10;      金瑞金鹰系统&#10;    &lt;/Text&gt;&#10;    &lt;Box style={{&#10;      width: 120,&#10;      height: 4,&#10;      background: 'linear-gradient(90deg, #D4AF37, #F3D27A)',&#10;      borderRadius: 2,&#10;    }} /&gt;&#10;    &lt;Text style={{&#10;      fontSize: 32,&#10;      fontWeight: 500,&#10;      color: '#C7D0E0',&#10;      textAlign: 'center',&#10;      letterSpacing: 1,&#10;      fontFamily: '&quot;PingFang SC&quot;,&quot;Microsoft YaHei&quot;,sans-serif',&#10;    }}&gt;&#10;      智能备考与学情分析一体化平台&#10;    &lt;/Text&gt;&#10;    &lt;Box style={{ height: 24 }} /&gt;&#10;    &lt;Text style={{&#10;      fontSize: 20,&#10;      color: '#7A89A3',&#10;      textAlign: 'center',&#10;      lineHeight: 1.6,&#10;    }}&gt;&#10;      学生端 + 教师端双引擎 · 让每一次练习都被看见&#10;    &lt;/Text&gt;&#10;  &lt;/Box&gt;&#10;  &lt;Box style={{&#10;    position: 'absolute',&#10;    bottom: 28,&#10;    left: 64,&#10;    flexDirection: 'row',&#10;    alignItems: 'center',&#10;    gap: 12,&#10;  }}&gt;&#10;    &lt;Box style={{&#10;      width: 8,&#10;      height: 8,&#10;      background: '#D4AF37',&#10;      borderRadius: '50%',&#10;    }} /&gt;&#10;    &lt;Text style={{ fontSize: 14, color: '#7A89A3' }}&gt;金瑞升学 · 金鹰系统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477000" y="-1905000"/>
            <a:ext cx="7620000" cy="7620000"/>
          </a:xfrm>
          <a:custGeom>
            <a:pathLst>
              <a:path w="800" h="800">
                <a:moveTo>
                  <a:pt x="600" y="746"/>
                </a:moveTo>
                <a:lnTo>
                  <a:pt x="599" y="747"/>
                </a:lnTo>
                <a:lnTo>
                  <a:pt x="591" y="752"/>
                </a:lnTo>
                <a:lnTo>
                  <a:pt x="582" y="756"/>
                </a:lnTo>
                <a:lnTo>
                  <a:pt x="573" y="761"/>
                </a:lnTo>
                <a:lnTo>
                  <a:pt x="565" y="765"/>
                </a:lnTo>
                <a:lnTo>
                  <a:pt x="556" y="769"/>
                </a:lnTo>
                <a:lnTo>
                  <a:pt x="547" y="772"/>
                </a:lnTo>
                <a:lnTo>
                  <a:pt x="537" y="776"/>
                </a:lnTo>
                <a:lnTo>
                  <a:pt x="528" y="779"/>
                </a:lnTo>
                <a:lnTo>
                  <a:pt x="519" y="782"/>
                </a:lnTo>
                <a:lnTo>
                  <a:pt x="509" y="785"/>
                </a:lnTo>
                <a:lnTo>
                  <a:pt x="500" y="787"/>
                </a:lnTo>
                <a:lnTo>
                  <a:pt x="490" y="790"/>
                </a:lnTo>
                <a:lnTo>
                  <a:pt x="481" y="792"/>
                </a:lnTo>
                <a:lnTo>
                  <a:pt x="471" y="794"/>
                </a:lnTo>
                <a:lnTo>
                  <a:pt x="461" y="795"/>
                </a:lnTo>
                <a:lnTo>
                  <a:pt x="451" y="797"/>
                </a:lnTo>
                <a:lnTo>
                  <a:pt x="441" y="798"/>
                </a:lnTo>
                <a:lnTo>
                  <a:pt x="431" y="799"/>
                </a:lnTo>
                <a:lnTo>
                  <a:pt x="421" y="799"/>
                </a:lnTo>
                <a:lnTo>
                  <a:pt x="410" y="800"/>
                </a:lnTo>
                <a:lnTo>
                  <a:pt x="400" y="800"/>
                </a:lnTo>
                <a:lnTo>
                  <a:pt x="390" y="800"/>
                </a:lnTo>
                <a:lnTo>
                  <a:pt x="379" y="799"/>
                </a:lnTo>
                <a:lnTo>
                  <a:pt x="369" y="799"/>
                </a:lnTo>
                <a:lnTo>
                  <a:pt x="359" y="798"/>
                </a:lnTo>
                <a:lnTo>
                  <a:pt x="349" y="797"/>
                </a:lnTo>
                <a:lnTo>
                  <a:pt x="339" y="795"/>
                </a:lnTo>
                <a:lnTo>
                  <a:pt x="329" y="794"/>
                </a:lnTo>
                <a:lnTo>
                  <a:pt x="319" y="792"/>
                </a:lnTo>
                <a:lnTo>
                  <a:pt x="310" y="790"/>
                </a:lnTo>
                <a:lnTo>
                  <a:pt x="300" y="787"/>
                </a:lnTo>
                <a:lnTo>
                  <a:pt x="291" y="785"/>
                </a:lnTo>
                <a:lnTo>
                  <a:pt x="281" y="782"/>
                </a:lnTo>
                <a:lnTo>
                  <a:pt x="272" y="779"/>
                </a:lnTo>
                <a:lnTo>
                  <a:pt x="263" y="776"/>
                </a:lnTo>
                <a:lnTo>
                  <a:pt x="253" y="772"/>
                </a:lnTo>
                <a:lnTo>
                  <a:pt x="244" y="769"/>
                </a:lnTo>
                <a:lnTo>
                  <a:pt x="235" y="765"/>
                </a:lnTo>
                <a:lnTo>
                  <a:pt x="227" y="761"/>
                </a:lnTo>
                <a:lnTo>
                  <a:pt x="218" y="756"/>
                </a:lnTo>
                <a:lnTo>
                  <a:pt x="209" y="752"/>
                </a:lnTo>
                <a:lnTo>
                  <a:pt x="201" y="747"/>
                </a:lnTo>
                <a:lnTo>
                  <a:pt x="193" y="742"/>
                </a:lnTo>
                <a:lnTo>
                  <a:pt x="184" y="737"/>
                </a:lnTo>
                <a:lnTo>
                  <a:pt x="176" y="732"/>
                </a:lnTo>
                <a:lnTo>
                  <a:pt x="169" y="726"/>
                </a:lnTo>
                <a:lnTo>
                  <a:pt x="161" y="720"/>
                </a:lnTo>
                <a:lnTo>
                  <a:pt x="153" y="715"/>
                </a:lnTo>
                <a:lnTo>
                  <a:pt x="146" y="709"/>
                </a:lnTo>
                <a:lnTo>
                  <a:pt x="138" y="702"/>
                </a:lnTo>
                <a:lnTo>
                  <a:pt x="131" y="696"/>
                </a:lnTo>
                <a:lnTo>
                  <a:pt x="124" y="689"/>
                </a:lnTo>
                <a:lnTo>
                  <a:pt x="117" y="683"/>
                </a:lnTo>
                <a:lnTo>
                  <a:pt x="111" y="676"/>
                </a:lnTo>
                <a:lnTo>
                  <a:pt x="104" y="669"/>
                </a:lnTo>
                <a:lnTo>
                  <a:pt x="98" y="662"/>
                </a:lnTo>
                <a:lnTo>
                  <a:pt x="91" y="654"/>
                </a:lnTo>
                <a:lnTo>
                  <a:pt x="85" y="647"/>
                </a:lnTo>
                <a:lnTo>
                  <a:pt x="80" y="639"/>
                </a:lnTo>
                <a:lnTo>
                  <a:pt x="74" y="631"/>
                </a:lnTo>
                <a:lnTo>
                  <a:pt x="68" y="624"/>
                </a:lnTo>
                <a:lnTo>
                  <a:pt x="63" y="616"/>
                </a:lnTo>
                <a:lnTo>
                  <a:pt x="58" y="607"/>
                </a:lnTo>
                <a:lnTo>
                  <a:pt x="53" y="599"/>
                </a:lnTo>
                <a:lnTo>
                  <a:pt x="48" y="591"/>
                </a:lnTo>
                <a:lnTo>
                  <a:pt x="44" y="582"/>
                </a:lnTo>
                <a:lnTo>
                  <a:pt x="39" y="573"/>
                </a:lnTo>
                <a:lnTo>
                  <a:pt x="35" y="565"/>
                </a:lnTo>
                <a:lnTo>
                  <a:pt x="31" y="556"/>
                </a:lnTo>
                <a:lnTo>
                  <a:pt x="28" y="547"/>
                </a:lnTo>
                <a:lnTo>
                  <a:pt x="24" y="537"/>
                </a:lnTo>
                <a:lnTo>
                  <a:pt x="21" y="528"/>
                </a:lnTo>
                <a:lnTo>
                  <a:pt x="18" y="519"/>
                </a:lnTo>
                <a:lnTo>
                  <a:pt x="15" y="509"/>
                </a:lnTo>
                <a:lnTo>
                  <a:pt x="13" y="500"/>
                </a:lnTo>
                <a:lnTo>
                  <a:pt x="10" y="490"/>
                </a:lnTo>
                <a:lnTo>
                  <a:pt x="8" y="481"/>
                </a:lnTo>
                <a:lnTo>
                  <a:pt x="6" y="471"/>
                </a:lnTo>
                <a:lnTo>
                  <a:pt x="5" y="461"/>
                </a:lnTo>
                <a:lnTo>
                  <a:pt x="3" y="451"/>
                </a:lnTo>
                <a:lnTo>
                  <a:pt x="2" y="441"/>
                </a:lnTo>
                <a:lnTo>
                  <a:pt x="1" y="431"/>
                </a:lnTo>
                <a:lnTo>
                  <a:pt x="1" y="421"/>
                </a:lnTo>
                <a:lnTo>
                  <a:pt x="0" y="410"/>
                </a:lnTo>
                <a:lnTo>
                  <a:pt x="0" y="400"/>
                </a:lnTo>
                <a:lnTo>
                  <a:pt x="0" y="390"/>
                </a:lnTo>
                <a:lnTo>
                  <a:pt x="1" y="379"/>
                </a:lnTo>
                <a:lnTo>
                  <a:pt x="1" y="369"/>
                </a:lnTo>
                <a:lnTo>
                  <a:pt x="2" y="359"/>
                </a:lnTo>
                <a:lnTo>
                  <a:pt x="3" y="349"/>
                </a:lnTo>
                <a:lnTo>
                  <a:pt x="5" y="339"/>
                </a:lnTo>
                <a:lnTo>
                  <a:pt x="6" y="329"/>
                </a:lnTo>
                <a:lnTo>
                  <a:pt x="8" y="319"/>
                </a:lnTo>
                <a:lnTo>
                  <a:pt x="10" y="310"/>
                </a:lnTo>
                <a:lnTo>
                  <a:pt x="13" y="300"/>
                </a:lnTo>
                <a:lnTo>
                  <a:pt x="15" y="291"/>
                </a:lnTo>
                <a:lnTo>
                  <a:pt x="18" y="281"/>
                </a:lnTo>
                <a:lnTo>
                  <a:pt x="21" y="272"/>
                </a:lnTo>
                <a:lnTo>
                  <a:pt x="24" y="263"/>
                </a:lnTo>
                <a:lnTo>
                  <a:pt x="28" y="253"/>
                </a:lnTo>
                <a:lnTo>
                  <a:pt x="31" y="244"/>
                </a:lnTo>
                <a:lnTo>
                  <a:pt x="35" y="235"/>
                </a:lnTo>
                <a:lnTo>
                  <a:pt x="39" y="227"/>
                </a:lnTo>
                <a:lnTo>
                  <a:pt x="44" y="218"/>
                </a:lnTo>
                <a:lnTo>
                  <a:pt x="48" y="209"/>
                </a:lnTo>
                <a:lnTo>
                  <a:pt x="53" y="201"/>
                </a:lnTo>
                <a:lnTo>
                  <a:pt x="54" y="200"/>
                </a:lnTo>
                <a:lnTo>
                  <a:pt x="600" y="200"/>
                </a:lnTo>
                <a:close/>
              </a:path>
            </a:pathLst>
          </a:custGeom>
          <a:gradFill>
            <a:gsLst>
              <a:gs pos="0">
                <a:srgbClr val="2563EB">
                  <a:alpha val="22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1524000" y="2667000"/>
            <a:ext cx="5715000" cy="5715000"/>
          </a:xfrm>
          <a:custGeom>
            <a:pathLst>
              <a:path w="600" h="600">
                <a:moveTo>
                  <a:pt x="308" y="0"/>
                </a:moveTo>
                <a:lnTo>
                  <a:pt x="315" y="0"/>
                </a:lnTo>
                <a:lnTo>
                  <a:pt x="323" y="1"/>
                </a:lnTo>
                <a:lnTo>
                  <a:pt x="331" y="2"/>
                </a:lnTo>
                <a:lnTo>
                  <a:pt x="338" y="2"/>
                </a:lnTo>
                <a:lnTo>
                  <a:pt x="346" y="3"/>
                </a:lnTo>
                <a:lnTo>
                  <a:pt x="353" y="5"/>
                </a:lnTo>
                <a:lnTo>
                  <a:pt x="360" y="6"/>
                </a:lnTo>
                <a:lnTo>
                  <a:pt x="368" y="8"/>
                </a:lnTo>
                <a:lnTo>
                  <a:pt x="375" y="9"/>
                </a:lnTo>
                <a:lnTo>
                  <a:pt x="382" y="11"/>
                </a:lnTo>
                <a:lnTo>
                  <a:pt x="389" y="13"/>
                </a:lnTo>
                <a:lnTo>
                  <a:pt x="396" y="16"/>
                </a:lnTo>
                <a:lnTo>
                  <a:pt x="403" y="18"/>
                </a:lnTo>
                <a:lnTo>
                  <a:pt x="410" y="21"/>
                </a:lnTo>
                <a:lnTo>
                  <a:pt x="417" y="24"/>
                </a:lnTo>
                <a:lnTo>
                  <a:pt x="423" y="27"/>
                </a:lnTo>
                <a:lnTo>
                  <a:pt x="430" y="30"/>
                </a:lnTo>
                <a:lnTo>
                  <a:pt x="437" y="33"/>
                </a:lnTo>
                <a:lnTo>
                  <a:pt x="443" y="36"/>
                </a:lnTo>
                <a:lnTo>
                  <a:pt x="449" y="40"/>
                </a:lnTo>
                <a:lnTo>
                  <a:pt x="456" y="43"/>
                </a:lnTo>
                <a:lnTo>
                  <a:pt x="462" y="47"/>
                </a:lnTo>
                <a:lnTo>
                  <a:pt x="468" y="51"/>
                </a:lnTo>
                <a:lnTo>
                  <a:pt x="474" y="55"/>
                </a:lnTo>
                <a:lnTo>
                  <a:pt x="479" y="60"/>
                </a:lnTo>
                <a:lnTo>
                  <a:pt x="485" y="64"/>
                </a:lnTo>
                <a:lnTo>
                  <a:pt x="491" y="69"/>
                </a:lnTo>
                <a:lnTo>
                  <a:pt x="496" y="73"/>
                </a:lnTo>
                <a:lnTo>
                  <a:pt x="502" y="78"/>
                </a:lnTo>
                <a:lnTo>
                  <a:pt x="507" y="83"/>
                </a:lnTo>
                <a:lnTo>
                  <a:pt x="512" y="88"/>
                </a:lnTo>
                <a:lnTo>
                  <a:pt x="517" y="93"/>
                </a:lnTo>
                <a:lnTo>
                  <a:pt x="522" y="98"/>
                </a:lnTo>
                <a:lnTo>
                  <a:pt x="527" y="104"/>
                </a:lnTo>
                <a:lnTo>
                  <a:pt x="531" y="109"/>
                </a:lnTo>
                <a:lnTo>
                  <a:pt x="536" y="115"/>
                </a:lnTo>
                <a:lnTo>
                  <a:pt x="540" y="121"/>
                </a:lnTo>
                <a:lnTo>
                  <a:pt x="545" y="126"/>
                </a:lnTo>
                <a:lnTo>
                  <a:pt x="549" y="132"/>
                </a:lnTo>
                <a:lnTo>
                  <a:pt x="553" y="138"/>
                </a:lnTo>
                <a:lnTo>
                  <a:pt x="557" y="144"/>
                </a:lnTo>
                <a:lnTo>
                  <a:pt x="560" y="151"/>
                </a:lnTo>
                <a:lnTo>
                  <a:pt x="564" y="157"/>
                </a:lnTo>
                <a:lnTo>
                  <a:pt x="567" y="163"/>
                </a:lnTo>
                <a:lnTo>
                  <a:pt x="570" y="170"/>
                </a:lnTo>
                <a:lnTo>
                  <a:pt x="573" y="177"/>
                </a:lnTo>
                <a:lnTo>
                  <a:pt x="576" y="183"/>
                </a:lnTo>
                <a:lnTo>
                  <a:pt x="579" y="190"/>
                </a:lnTo>
                <a:lnTo>
                  <a:pt x="582" y="197"/>
                </a:lnTo>
                <a:lnTo>
                  <a:pt x="584" y="204"/>
                </a:lnTo>
                <a:lnTo>
                  <a:pt x="587" y="211"/>
                </a:lnTo>
                <a:lnTo>
                  <a:pt x="589" y="218"/>
                </a:lnTo>
                <a:lnTo>
                  <a:pt x="591" y="225"/>
                </a:lnTo>
                <a:lnTo>
                  <a:pt x="592" y="232"/>
                </a:lnTo>
                <a:lnTo>
                  <a:pt x="594" y="240"/>
                </a:lnTo>
                <a:lnTo>
                  <a:pt x="595" y="247"/>
                </a:lnTo>
                <a:lnTo>
                  <a:pt x="597" y="254"/>
                </a:lnTo>
                <a:lnTo>
                  <a:pt x="598" y="262"/>
                </a:lnTo>
                <a:lnTo>
                  <a:pt x="598" y="269"/>
                </a:lnTo>
                <a:lnTo>
                  <a:pt x="599" y="277"/>
                </a:lnTo>
                <a:lnTo>
                  <a:pt x="600" y="285"/>
                </a:lnTo>
                <a:lnTo>
                  <a:pt x="600" y="292"/>
                </a:lnTo>
                <a:lnTo>
                  <a:pt x="600" y="300"/>
                </a:lnTo>
                <a:lnTo>
                  <a:pt x="600" y="308"/>
                </a:lnTo>
                <a:lnTo>
                  <a:pt x="600" y="315"/>
                </a:lnTo>
                <a:lnTo>
                  <a:pt x="599" y="323"/>
                </a:lnTo>
                <a:lnTo>
                  <a:pt x="598" y="331"/>
                </a:lnTo>
                <a:lnTo>
                  <a:pt x="598" y="338"/>
                </a:lnTo>
                <a:lnTo>
                  <a:pt x="597" y="346"/>
                </a:lnTo>
                <a:lnTo>
                  <a:pt x="595" y="353"/>
                </a:lnTo>
                <a:lnTo>
                  <a:pt x="594" y="360"/>
                </a:lnTo>
                <a:lnTo>
                  <a:pt x="592" y="368"/>
                </a:lnTo>
                <a:lnTo>
                  <a:pt x="591" y="375"/>
                </a:lnTo>
                <a:lnTo>
                  <a:pt x="589" y="382"/>
                </a:lnTo>
                <a:lnTo>
                  <a:pt x="587" y="389"/>
                </a:lnTo>
                <a:lnTo>
                  <a:pt x="584" y="396"/>
                </a:lnTo>
                <a:lnTo>
                  <a:pt x="582" y="403"/>
                </a:lnTo>
                <a:lnTo>
                  <a:pt x="579" y="410"/>
                </a:lnTo>
                <a:lnTo>
                  <a:pt x="576" y="417"/>
                </a:lnTo>
                <a:lnTo>
                  <a:pt x="573" y="423"/>
                </a:lnTo>
                <a:lnTo>
                  <a:pt x="570" y="430"/>
                </a:lnTo>
                <a:lnTo>
                  <a:pt x="567" y="437"/>
                </a:lnTo>
                <a:lnTo>
                  <a:pt x="565" y="440"/>
                </a:lnTo>
                <a:lnTo>
                  <a:pt x="160" y="440"/>
                </a:lnTo>
                <a:lnTo>
                  <a:pt x="160" y="35"/>
                </a:lnTo>
                <a:lnTo>
                  <a:pt x="163" y="33"/>
                </a:lnTo>
                <a:lnTo>
                  <a:pt x="170" y="30"/>
                </a:lnTo>
                <a:lnTo>
                  <a:pt x="177" y="27"/>
                </a:lnTo>
                <a:lnTo>
                  <a:pt x="183" y="24"/>
                </a:lnTo>
                <a:lnTo>
                  <a:pt x="190" y="21"/>
                </a:lnTo>
                <a:lnTo>
                  <a:pt x="197" y="18"/>
                </a:lnTo>
                <a:lnTo>
                  <a:pt x="204" y="16"/>
                </a:lnTo>
                <a:lnTo>
                  <a:pt x="211" y="13"/>
                </a:lnTo>
                <a:lnTo>
                  <a:pt x="218" y="11"/>
                </a:lnTo>
                <a:lnTo>
                  <a:pt x="225" y="9"/>
                </a:lnTo>
                <a:lnTo>
                  <a:pt x="232" y="8"/>
                </a:lnTo>
                <a:lnTo>
                  <a:pt x="240" y="6"/>
                </a:lnTo>
                <a:lnTo>
                  <a:pt x="247" y="5"/>
                </a:lnTo>
                <a:lnTo>
                  <a:pt x="254" y="3"/>
                </a:lnTo>
                <a:lnTo>
                  <a:pt x="262" y="2"/>
                </a:lnTo>
                <a:lnTo>
                  <a:pt x="269" y="2"/>
                </a:lnTo>
                <a:lnTo>
                  <a:pt x="277" y="1"/>
                </a:lnTo>
                <a:lnTo>
                  <a:pt x="285" y="0"/>
                </a:lnTo>
                <a:lnTo>
                  <a:pt x="292" y="0"/>
                </a:lnTo>
                <a:lnTo>
                  <a:pt x="300" y="0"/>
                </a:lnTo>
                <a:close/>
              </a:path>
            </a:pathLst>
          </a:custGeom>
          <a:gradFill>
            <a:gsLst>
              <a:gs pos="0">
                <a:srgbClr val="D4AF37">
                  <a:alpha val="12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64770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800100" y="64293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3952875" y="2057400"/>
            <a:ext cx="4286250" cy="8286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5400" b="1" spc="225">
                <a:solidFill>
                  <a:srgbClr val="F8FAFC"/>
                </a:solidFill>
                <a:latin typeface="PingFang SC"/>
                <a:ea typeface="PingFang SC"/>
              </a:rPr>
              <a:t>金瑞金鹰系统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5524500" y="311467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3895725" y="3381375"/>
            <a:ext cx="4400550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2400" spc="75">
                <a:solidFill>
                  <a:srgbClr val="C7D0E0"/>
                </a:solidFill>
                <a:latin typeface="PingFang SC"/>
                <a:ea typeface="PingFang SC"/>
              </a:rPr>
              <a:t>智能备考与学情分析一体化平台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4095750" y="4438650"/>
            <a:ext cx="4010025" cy="3714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学生端</a:t>
            </a:r>
            <a:r>
              <a:rPr lang="en-US" sz="1500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教师端双引擎</a:t>
            </a:r>
            <a:r>
              <a:rPr lang="en-US" sz="150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让每一次练习都被看见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260" name="" descr="&lt;Slide style={{&#10;  width: '1280px',&#10;  height: '720px',&#10;  background: '#0A0F1E',&#10;  padding: '40px 64px',&#10;  flexDirection: 'column',&#10;}}&gt;&#10;  &lt;Text style={{&#10;    fontSize: 40,&#10;    fontWeight: 'bold',&#10;    color: '#F8FAFC',&#10;    marginBottom: 36,&#10;    fontFamily: '&quot;PingFang SC&quot;,&quot;Microsoft YaHei&quot;,sans-serif',&#10;  }}&gt;&#10;    目录&#10;  &lt;/Text&gt;&#10;  &lt;Box style={{&#10;    flexDirection: 'row',&#10;    flexWrap: 'wrap',&#10;    gap: 24,&#10;    flex: 1,&#10;    alignContent: 'center',&#10;  }}&gt;&#10;    {[&#10;      { num: '01', title: '系统概览', desc: '定位、规模与核心数据' },&#10;      { num: '02', title: '学生端 · 个人空间', desc: '作业、成绩、错题、薄弱点一屏聚合' },&#10;      { num: '03', title: '学生端 · 学习矩阵', desc: '刷题、语言、冒险、面试四大场景' },&#10;      { num: '04', title: '教师端', desc: '智能导入、组卷、学生管理与分发' },&#10;      { num: '05', title: '技术底座', desc: 'AI 识别、即时判分、学情引擎' },&#10;      { num: '06', title: '结语', desc: '让成长有迹可循' },&#10;    ].map((item, idx) =&gt; (&#10;      &lt;Box key={idx} style={{&#10;        width: 360,&#10;        height: 160,&#10;        background: '#131C33',&#10;        borderRadius: 16,&#10;        padding: 28,&#10;        flexDirection: 'column',&#10;        justifyContent: 'space-between',&#10;        borderLeft: '4px solid #2563EB',&#10;      }}&gt;&#10;        &lt;Text style={{&#10;          fontSize: 48,&#10;          fontWeight: 'bold',&#10;          color: '#D4AF37',&#10;          fontFamily: '&quot;Inter&quot;,sans-serif',&#10;        }}&gt;{item.num}&lt;/Text&gt;&#10;        &lt;Box&gt;&#10;          &lt;Text style={{&#10;            fontSize: 24,&#10;            fontWeight: 'bold',&#10;            color: '#F8FAFC',&#10;            marginBottom: 8,&#10;            fontFamily: '&quot;PingFang SC&quot;,&quot;Microsoft YaHei&quot;,sans-serif',&#10;          }}&gt;{item.title}&lt;/Text&gt;&#10;          &lt;Text style={{ fontSize: 16, color: '#7A89A3' }}&gt;{item.desc}&lt;/Text&gt;&#10;        &lt;/Box&gt;&#10;      &lt;/Box&gt;&#10;    ))}&#10;  &lt;/Box&gt;&#10;  &lt;Box style={{&#10;    flexDirection: 'row',&#10;    justifyContent: 'space-between',&#10;    alignItems: 'center',&#10;    marginTop: 24,&#10;  }}&gt;&#10;    &lt;Text style={{ fontSize: 14, color: '#7A89A3' }}&gt;金瑞升学 · 金鹰系统&lt;/Text&gt;&#10;    &lt;Text style={{ fontSize: 14, color: '#7A89A3' }}&gt;02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8FAFC"/>
                </a:solidFill>
                <a:latin typeface="PingFang SC"/>
                <a:ea typeface="PingFang SC"/>
              </a:rPr>
              <a:t>目录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647700" y="118110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64" name=""/>
          <p:cNvSpPr/>
          <p:nvPr/>
        </p:nvSpPr>
        <p:spPr>
          <a:xfrm rot="0" flipH="0" flipV="0">
            <a:off x="647700" y="118110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914400" y="144780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01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914400" y="20002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系统概览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14400" y="23526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定位、规模与核心数据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4305300" y="118110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69" name=""/>
          <p:cNvSpPr/>
          <p:nvPr/>
        </p:nvSpPr>
        <p:spPr>
          <a:xfrm rot="0" flipH="0" flipV="0">
            <a:off x="4305300" y="118110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572000" y="144780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02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4572000" y="20002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学生端</a:t>
            </a:r>
            <a:r>
              <a:rPr lang="en-US" sz="180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个人空间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4572000" y="23526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作业、成绩、错题、薄弱点一屏聚合</a:t>
            </a:r>
            <a:endParaRPr/>
          </a:p>
        </p:txBody>
      </p:sp>
      <p:sp>
        <p:nvSpPr>
          <p:cNvPr id="273" name=""/>
          <p:cNvSpPr/>
          <p:nvPr/>
        </p:nvSpPr>
        <p:spPr>
          <a:xfrm rot="0" flipH="0" flipV="0">
            <a:off x="7962900" y="118110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74" name=""/>
          <p:cNvSpPr/>
          <p:nvPr/>
        </p:nvSpPr>
        <p:spPr>
          <a:xfrm rot="0" flipH="0" flipV="0">
            <a:off x="7962900" y="118110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8229600" y="144780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03</a:t>
            </a:r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229600" y="20002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学生端</a:t>
            </a:r>
            <a:r>
              <a:rPr lang="en-US" sz="180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学习矩阵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8229600" y="235267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刷题、语言、冒险、面试四大场景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47700" y="375285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647700" y="375285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14400" y="401955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04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14400" y="457200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教师端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914400" y="49244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智能导入、组卷、学生管理与分发</a:t>
            </a:r>
            <a:endParaRPr/>
          </a:p>
        </p:txBody>
      </p:sp>
      <p:sp>
        <p:nvSpPr>
          <p:cNvPr id="283" name=""/>
          <p:cNvSpPr/>
          <p:nvPr/>
        </p:nvSpPr>
        <p:spPr>
          <a:xfrm rot="0" flipH="0" flipV="0">
            <a:off x="4305300" y="375285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4305300" y="375285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4572000" y="401955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05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4572000" y="457200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技术底座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4572000" y="49244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AI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识别、即时判分、学情引擎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7962900" y="3752850"/>
            <a:ext cx="3390900" cy="15240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7962900" y="3752850"/>
            <a:ext cx="3390900" cy="1524000"/>
          </a:xfrm>
          <a:custGeom>
            <a:pathLst>
              <a:path w="356" h="160">
                <a:moveTo>
                  <a:pt x="15" y="0"/>
                </a:moveTo>
                <a:cubicBezTo>
                  <a:pt x="9" y="1"/>
                  <a:pt x="4" y="6"/>
                  <a:pt x="4" y="12"/>
                </a:cubicBezTo>
                <a:lnTo>
                  <a:pt x="4" y="148"/>
                </a:lnTo>
                <a:cubicBezTo>
                  <a:pt x="4" y="153"/>
                  <a:pt x="8" y="158"/>
                  <a:pt x="13" y="160"/>
                </a:cubicBezTo>
                <a:cubicBezTo>
                  <a:pt x="5" y="158"/>
                  <a:pt x="0" y="152"/>
                  <a:pt x="0" y="144"/>
                </a:cubicBezTo>
                <a:lnTo>
                  <a:pt x="0" y="16"/>
                </a:lnTo>
                <a:cubicBezTo>
                  <a:pt x="0" y="7"/>
                  <a:pt x="7" y="0"/>
                  <a:pt x="15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229600" y="4019550"/>
            <a:ext cx="28575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D4AF37"/>
                </a:solidFill>
                <a:latin typeface="Inter"/>
                <a:ea typeface="Inter"/>
              </a:rPr>
              <a:t>06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229600" y="457200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8FAFC"/>
                </a:solidFill>
                <a:latin typeface="PingFang SC"/>
                <a:ea typeface="PingFang SC"/>
              </a:rPr>
              <a:t>结语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229600" y="4924425"/>
            <a:ext cx="2857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让成长有迹可循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02 / 18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295" name="" descr="&lt;Slide style={{&#10;  width: '1280px',&#10;  height: '720px',&#10;  background: '#0A0F1E',&#10;  padding: '40px 64px',&#10;  flexDirection: 'column',&#10;}}&gt;&#10;  &lt;Text style={{&#10;    fontSize: 40,&#10;    fontWeight: 'bold',&#10;    color: '#F8FAFC',&#10;    marginBottom: 12,&#10;    fontFamily: '&quot;PingFang SC&quot;,&quot;Microsoft YaHei&quot;,sans-serif',&#10;  }}&gt;&#10;    系统概览&#10;  &lt;/Text&gt;&#10;  &lt;Text style={{&#10;    fontSize: 20,&#10;    color: '#7A89A3',&#10;    marginBottom: 44,&#10;  }}&gt;&#10;    面向 TMUA / ESAT / 雅思 / 剑桥面试等升学场景的智能化训练平台&#10;  &lt;/Text&gt;&#10;  &lt;Box style={{&#10;    flexDirection: 'row',&#10;    gap: 24,&#10;    flex: 1,&#10;    alignItems: 'stretch',&#10;  }}&gt;&#10;    {[&#10;      { value: '5', label: '大学生端模块', desc: '个人空间 / 刷题 / 语言 / 冒险 / 面试' },&#10;      { value: '300+', label: '学科题库', desc: 'TMUA / ESAT / NSAA 等原版与组卷' },&#10;      { value: '28', label: '冒险被动技能', desc: 'Roguelike 即时战斗与成长体系' },&#10;      { value: '多维', label: '学情分析', desc: '科目 / 难度 / 模式 / 知识点 / 语言' },&#10;    ].map((m, idx) =&gt; (&#10;      &lt;Box key={idx} style={{&#10;        flex: 1,&#10;        background: '#131C33',&#10;        borderRadius: 20,&#10;        padding: 32,&#10;        flexDirection: 'column',&#10;        justifyContent: 'center',&#10;        alignItems: 'center',&#10;        gap: 16,&#10;        border: '1px solid rgba(37,99,235,0.25)',&#10;      }}&gt;&#10;        &lt;Text style={{&#10;          fontSize: 72,&#10;          fontWeight: 'bold',&#10;          backgroundImage: 'linear-gradient(135deg, #D4AF37 0%, #F3D27A 100%)',&#10;          backgroundClip: 'text',&#10;          color: 'transparent',&#10;          fontFamily: '&quot;Inter&quot;,sans-serif',&#10;        }}&gt;{m.value}&lt;/Text&gt;&#10;        &lt;Text style={{&#10;          fontSize: 22,&#10;          fontWeight: 'bold',&#10;          color: '#F8FAFC',&#10;          textAlign: 'center',&#10;        }}&gt;{m.label}&lt;/Text&gt;&#10;        &lt;Text style={{&#10;          fontSize: 16,&#10;          color: '#7A89A3',&#10;          textAlign: 'center',&#10;          lineHeight: 1.5,&#10;        }}&gt;{m.desc}&lt;/Text&gt;&#10;      &lt;/Box&gt;&#10;    ))}&#10;  &lt;/Box&gt;&#10;  &lt;Box style={{&#10;    flexDirection: 'row',&#10;    justifyContent: 'space-between',&#10;    marginTop: 28,&#10;  }}&gt;&#10;    &lt;Text style={{ fontSize: 14, color: '#7A89A3' }}&gt;金瑞升学 · 金鹰系统&lt;/Text&gt;&#10;    &lt;Text style={{ fontSize: 14, color: '#7A89A3' }}&gt;03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000" b="1">
                <a:solidFill>
                  <a:srgbClr val="F8FAFC"/>
                </a:solidFill>
                <a:latin typeface="PingFang SC"/>
                <a:ea typeface="PingFang SC"/>
              </a:rPr>
              <a:t>系统概览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609600" y="952500"/>
            <a:ext cx="10972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面向</a:t>
            </a:r>
            <a:r>
              <a:rPr lang="en-US" sz="1500">
                <a:solidFill>
                  <a:srgbClr val="7A89A3"/>
                </a:solidFill>
                <a:latin typeface="Microsoft YaHei"/>
                <a:ea typeface="Microsoft YaHei"/>
              </a:rPr>
              <a:t> TMUA / ESAT / </a:t>
            </a: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雅思</a:t>
            </a:r>
            <a:r>
              <a:rPr lang="en-US" sz="15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7A89A3"/>
                </a:solidFill>
                <a:latin typeface="Microsoft YaHei"/>
                <a:ea typeface="Microsoft YaHei"/>
              </a:rPr>
              <a:t>剑桥面试等升学场景的智能化训练平台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609600" y="1600200"/>
            <a:ext cx="2571750" cy="4448175"/>
          </a:xfrm>
          <a:prstGeom prst="roundRect">
            <a:avLst>
              <a:gd name="adj" fmla="val 7407"/>
            </a:avLst>
          </a:prstGeom>
          <a:solidFill>
            <a:srgbClr val="131C33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704975" y="2857500"/>
            <a:ext cx="3905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Inter"/>
                <a:ea typeface="Inter"/>
              </a:rPr>
              <a:t>5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1266825" y="3838575"/>
            <a:ext cx="12573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大学生端模块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14400" y="4248150"/>
            <a:ext cx="1962150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个人空间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刷题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语言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冒险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面试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3409950" y="1600200"/>
            <a:ext cx="2571750" cy="4448175"/>
          </a:xfrm>
          <a:prstGeom prst="roundRect">
            <a:avLst>
              <a:gd name="adj" fmla="val 7407"/>
            </a:avLst>
          </a:prstGeom>
          <a:solidFill>
            <a:srgbClr val="131C33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3924300" y="2857500"/>
            <a:ext cx="15525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Inter"/>
                <a:ea typeface="Inter"/>
              </a:rPr>
              <a:t>300+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276725" y="3838575"/>
            <a:ext cx="8382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学科题库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3714750" y="4248150"/>
            <a:ext cx="1962150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TMUA / ESAT / NSAA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等原版与组卷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6210300" y="1600200"/>
            <a:ext cx="2571750" cy="4448175"/>
          </a:xfrm>
          <a:prstGeom prst="roundRect">
            <a:avLst>
              <a:gd name="adj" fmla="val 7407"/>
            </a:avLst>
          </a:prstGeom>
          <a:solidFill>
            <a:srgbClr val="131C33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115175" y="2857500"/>
            <a:ext cx="77152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Inter"/>
                <a:ea typeface="Inter"/>
              </a:rPr>
              <a:t>28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6867525" y="3838575"/>
            <a:ext cx="12573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冒险被动技能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6515100" y="4248150"/>
            <a:ext cx="1962150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Roguelike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即时战斗与成长体系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9010650" y="1600200"/>
            <a:ext cx="2571750" cy="4448175"/>
          </a:xfrm>
          <a:prstGeom prst="roundRect">
            <a:avLst>
              <a:gd name="adj" fmla="val 7407"/>
            </a:avLst>
          </a:prstGeom>
          <a:solidFill>
            <a:srgbClr val="131C33"/>
          </a:solidFill>
          <a:ln w="12700">
            <a:solidFill>
              <a:srgbClr val="2563EB">
                <a:alpha val="2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9610725" y="2857500"/>
            <a:ext cx="1371600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54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Inter"/>
                <a:ea typeface="Inter"/>
              </a:rPr>
              <a:t>多维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9877425" y="3838575"/>
            <a:ext cx="8382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学情分析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9315450" y="4248150"/>
            <a:ext cx="1962150" cy="5524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50000"/>
              </a:lnSpc>
            </a:pP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科目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难度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模式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知识点</a:t>
            </a:r>
            <a:r>
              <a:rPr lang="en-US" sz="120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7A89A3"/>
                </a:solidFill>
                <a:latin typeface="Microsoft YaHei"/>
                <a:ea typeface="Microsoft YaHei"/>
              </a:rPr>
              <a:t>语言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03 / 18</a:t>
            </a:r>
            <a:endParaRPr/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317" name="" descr="&lt;Slide style={{&#10;  width: '1280px',&#10;  height: '720px',&#10;  background: '#0A0F1E',&#10;  padding: '40px 64px',&#10;  flexDirection: 'column',&#10;  justifyContent: 'center',&#10;  position: 'relative',&#10;  overflow: 'hidden',&#10;}}&gt;&#10;  &lt;Box style={{&#10;    position: 'absolute',&#10;    right: -120,&#10;    top: 120,&#10;    width: 520,&#10;    height: 520,&#10;    background: 'radial-gradient(circle at 50% 50%, rgba(37,99,235,0.18), transparent 60%)',&#10;    borderRadius: '50%',&#10;  }} /&gt;&#10;  &lt;Box style={{ position: 'relative', zIndex: 2, flexDirection: 'column' }}&gt;&#10;    &lt;Text style={{&#10;      fontSize: 28,&#10;      fontWeight: 600,&#10;      color: '#D4AF37',&#10;      marginBottom: 16,&#10;      letterSpacing: 2,&#10;    }}&gt;&#10;      01&#10;    &lt;/Text&gt;&#10;    &lt;Text style={{&#10;      fontSize: 64,&#10;      fontWeight: 'bold',&#10;      color: '#F8FAFC',&#10;      marginBottom: 24,&#10;      fontFamily: '&quot;PingFang SC&quot;,&quot;Microsoft YaHei&quot;,sans-serif',&#10;    }}&gt;&#10;      学生端&#10;    &lt;/Text&gt;&#10;    &lt;Box style={{&#10;      width: 80,&#10;      height: 4,&#10;      background: 'linear-gradient(90deg, #D4AF37, #F3D27A)',&#10;      borderRadius: 2,&#10;      marginBottom: 32,&#10;    }} /&gt;&#10;    &lt;Text style={{&#10;      fontSize: 24,&#10;      color: '#C7D0E0',&#10;      lineHeight: 1.6,&#10;    }}&gt;&#10;      以学习者为中心的全场景空间&#10;    &lt;/Text&gt;&#10;  &lt;/Box&gt;&#10;  &lt;Box style={{&#10;    position: 'absolute',&#10;    bottom: 28,&#10;    left: 64,&#10;    flexDirection: 'row',&#10;    alignItems: 'center',&#10;    gap: 12,&#10;  }}&gt;&#10;    &lt;Box style={{ width: 8, height: 8, background: '#D4AF37', borderRadius: '50%' }} /&gt;&#10;    &lt;Text style={{ fontSize: 14, color: '#7A89A3' }}&gt;金瑞升学 · 金鹰系统&lt;/Text&gt;&#10;  &lt;/Box&gt;&#10;  &lt;Text style={{&#10;    position: 'absolute',&#10;    bottom: 28,&#10;    right: 64,&#10;    fontSize: 14,&#10;    color: '#7A89A3',&#10;  }}&gt;04 / 18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19" name=""/>
          <p:cNvSpPr/>
          <p:nvPr/>
        </p:nvSpPr>
        <p:spPr>
          <a:xfrm rot="0" flipH="0" flipV="0">
            <a:off x="8382000" y="1143000"/>
            <a:ext cx="4953000" cy="4953000"/>
          </a:xfrm>
          <a:custGeom>
            <a:pathLst>
              <a:path w="520" h="520">
                <a:moveTo>
                  <a:pt x="267" y="0"/>
                </a:moveTo>
                <a:lnTo>
                  <a:pt x="273" y="0"/>
                </a:lnTo>
                <a:lnTo>
                  <a:pt x="280" y="1"/>
                </a:lnTo>
                <a:lnTo>
                  <a:pt x="287" y="1"/>
                </a:lnTo>
                <a:lnTo>
                  <a:pt x="293" y="2"/>
                </a:lnTo>
                <a:lnTo>
                  <a:pt x="300" y="3"/>
                </a:lnTo>
                <a:lnTo>
                  <a:pt x="306" y="4"/>
                </a:lnTo>
                <a:lnTo>
                  <a:pt x="312" y="5"/>
                </a:lnTo>
                <a:lnTo>
                  <a:pt x="319" y="7"/>
                </a:lnTo>
                <a:lnTo>
                  <a:pt x="325" y="8"/>
                </a:lnTo>
                <a:lnTo>
                  <a:pt x="331" y="10"/>
                </a:lnTo>
                <a:lnTo>
                  <a:pt x="337" y="12"/>
                </a:lnTo>
                <a:lnTo>
                  <a:pt x="343" y="14"/>
                </a:lnTo>
                <a:lnTo>
                  <a:pt x="349" y="16"/>
                </a:lnTo>
                <a:lnTo>
                  <a:pt x="355" y="18"/>
                </a:lnTo>
                <a:lnTo>
                  <a:pt x="361" y="20"/>
                </a:lnTo>
                <a:lnTo>
                  <a:pt x="367" y="23"/>
                </a:lnTo>
                <a:lnTo>
                  <a:pt x="373" y="26"/>
                </a:lnTo>
                <a:lnTo>
                  <a:pt x="378" y="28"/>
                </a:lnTo>
                <a:lnTo>
                  <a:pt x="384" y="31"/>
                </a:lnTo>
                <a:lnTo>
                  <a:pt x="389" y="34"/>
                </a:lnTo>
                <a:lnTo>
                  <a:pt x="395" y="38"/>
                </a:lnTo>
                <a:lnTo>
                  <a:pt x="400" y="41"/>
                </a:lnTo>
                <a:lnTo>
                  <a:pt x="400" y="479"/>
                </a:ln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31" y="136"/>
                </a:lnTo>
                <a:lnTo>
                  <a:pt x="34" y="131"/>
                </a:lnTo>
                <a:lnTo>
                  <a:pt x="38" y="125"/>
                </a:lnTo>
                <a:lnTo>
                  <a:pt x="41" y="120"/>
                </a:lnTo>
                <a:lnTo>
                  <a:pt x="44" y="115"/>
                </a:lnTo>
                <a:lnTo>
                  <a:pt x="48" y="110"/>
                </a:lnTo>
                <a:lnTo>
                  <a:pt x="52" y="104"/>
                </a:lnTo>
                <a:lnTo>
                  <a:pt x="55" y="100"/>
                </a:lnTo>
                <a:lnTo>
                  <a:pt x="59" y="95"/>
                </a:lnTo>
                <a:lnTo>
                  <a:pt x="63" y="90"/>
                </a:lnTo>
                <a:lnTo>
                  <a:pt x="68" y="85"/>
                </a:lnTo>
                <a:lnTo>
                  <a:pt x="72" y="81"/>
                </a:lnTo>
                <a:lnTo>
                  <a:pt x="76" y="76"/>
                </a:lnTo>
                <a:lnTo>
                  <a:pt x="81" y="72"/>
                </a:lnTo>
                <a:lnTo>
                  <a:pt x="85" y="68"/>
                </a:lnTo>
                <a:lnTo>
                  <a:pt x="90" y="63"/>
                </a:lnTo>
                <a:lnTo>
                  <a:pt x="95" y="59"/>
                </a:lnTo>
                <a:lnTo>
                  <a:pt x="100" y="55"/>
                </a:lnTo>
                <a:lnTo>
                  <a:pt x="104" y="52"/>
                </a:lnTo>
                <a:lnTo>
                  <a:pt x="110" y="48"/>
                </a:lnTo>
                <a:lnTo>
                  <a:pt x="115" y="44"/>
                </a:lnTo>
                <a:lnTo>
                  <a:pt x="120" y="41"/>
                </a:lnTo>
                <a:lnTo>
                  <a:pt x="125" y="38"/>
                </a:lnTo>
                <a:lnTo>
                  <a:pt x="131" y="34"/>
                </a:lnTo>
                <a:lnTo>
                  <a:pt x="136" y="31"/>
                </a:lnTo>
                <a:lnTo>
                  <a:pt x="142" y="28"/>
                </a:lnTo>
                <a:lnTo>
                  <a:pt x="147" y="26"/>
                </a:lnTo>
                <a:lnTo>
                  <a:pt x="153" y="23"/>
                </a:lnTo>
                <a:lnTo>
                  <a:pt x="159" y="20"/>
                </a:lnTo>
                <a:lnTo>
                  <a:pt x="165" y="18"/>
                </a:lnTo>
                <a:lnTo>
                  <a:pt x="171" y="16"/>
                </a:lnTo>
                <a:lnTo>
                  <a:pt x="177" y="14"/>
                </a:lnTo>
                <a:lnTo>
                  <a:pt x="183" y="12"/>
                </a:lnTo>
                <a:lnTo>
                  <a:pt x="189" y="10"/>
                </a:lnTo>
                <a:lnTo>
                  <a:pt x="195" y="8"/>
                </a:lnTo>
                <a:lnTo>
                  <a:pt x="201" y="7"/>
                </a:lnTo>
                <a:lnTo>
                  <a:pt x="208" y="5"/>
                </a:lnTo>
                <a:lnTo>
                  <a:pt x="214" y="4"/>
                </a:lnTo>
                <a:lnTo>
                  <a:pt x="220" y="3"/>
                </a:lnTo>
                <a:lnTo>
                  <a:pt x="227" y="2"/>
                </a:lnTo>
                <a:lnTo>
                  <a:pt x="233" y="1"/>
                </a:lnTo>
                <a:lnTo>
                  <a:pt x="240" y="1"/>
                </a:lnTo>
                <a:lnTo>
                  <a:pt x="247" y="0"/>
                </a:lnTo>
                <a:lnTo>
                  <a:pt x="253" y="0"/>
                </a:lnTo>
                <a:lnTo>
                  <a:pt x="260" y="0"/>
                </a:lnTo>
                <a:close/>
              </a:path>
            </a:pathLst>
          </a:custGeom>
          <a:gradFill>
            <a:gsLst>
              <a:gs pos="0">
                <a:srgbClr val="2563EB">
                  <a:alpha val="18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320" name=""/>
          <p:cNvSpPr/>
          <p:nvPr/>
        </p:nvSpPr>
        <p:spPr>
          <a:xfrm rot="0" flipH="0" flipV="0">
            <a:off x="609600" y="64770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00100" y="64293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1117282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04 / 18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23145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150">
                <a:solidFill>
                  <a:srgbClr val="D4AF3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2790825"/>
            <a:ext cx="10972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8FAFC"/>
                </a:solidFill>
                <a:latin typeface="PingFang SC"/>
                <a:ea typeface="PingFang SC"/>
              </a:rPr>
              <a:t>学生端</a:t>
            </a:r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375285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C7D0E0"/>
                </a:solidFill>
                <a:latin typeface="Microsoft YaHei"/>
                <a:ea typeface="Microsoft YaHei"/>
              </a:rPr>
              <a:t>以学习者为中心的全场景空间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27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8,&#10;    fontFamily: '&quot;PingFang SC&quot;,&quot;Microsoft YaHei&quot;,sans-serif',&#10;  }}&gt;&#10;    个人空间 · 一屏聚合全部学习事务&#10;  &lt;/Text&gt;&#10;  &lt;Box style={{&#10;    flexDirection: 'row',&#10;    gap: 32,&#10;    flex: 1,&#10;    alignItems: 'stretch',&#10;  }}&gt;&#10;    &lt;Box style={{&#10;      width: 360,&#10;      flexDirection: 'column',&#10;      justifyContent: 'center',&#10;      gap: 20,&#10;    }}&gt;&#10;      &lt;Box style={{ flexDirection: 'row', alignItems: 'center', gap: 16 }}&gt;&#10;        &lt;Box style={{&#10;          width: 48,&#10;          height: 48,&#10;          borderRadius: 12,&#10;          background: 'linear-gradient(135deg, #1E3A8A 0%, #2563EB 100%)',&#10;          justifyContent: 'center',&#10;          alignItems: 'center',&#10;        }}&gt;&#10;          &lt;FAIcon name='home' style={{ fill: '#F8FAFC', width: 24, height: 24 }} /&gt;&#10;        &lt;/Box&gt;&#10;        &lt;Text style={{ fontSize: 22, fontWeight: 'bold', color: '#F8FAFC' }}&gt;统一入口&lt;/Text&gt;&#10;      &lt;/Box&gt;&#10;      &lt;Text style={{ fontSize: 18, color: '#C7D0E0', lineHeight: 1.6 }}&gt;&#10;        将「我的作业、成绩历史、薄弱知识点、错题本」整合到导航最左侧，学生无需在不同页面间跳转。&#10;      &lt;/Text&gt;&#10;      {[&#10;        'Tab 按钮等宽放大，状态一目了然',&#10;        '我的作业按 DDL 由近到远排序',&#10;        '24 小时内截止自动进入红色紧急区',&#10;        '实时倒计时提醒，杜绝遗漏',&#10;      ].map((t, i) =&gt; (&#10;        &lt;Box key={i} style={{ flexDirection: 'row', alignItems: 'flex-start', gap: 10 }}&gt;&#10;          &lt;FAIcon name='check-circle' style={{ fill: '#D4AF37', width: 18, height: 18, marginTop: 4 }} /&gt;&#10;          &lt;Text style={{ fontSize: 17, color: '#C7D0E0', flex: 1 }}&gt;{t}&lt;/Text&gt;&#10;        &lt;/Box&gt;&#10;      ))}&#10;    &lt;/Box&gt;&#10;    &lt;Box style={{&#10;      flex: 1,&#10;      background: '#131C33',&#10;      borderRadius: 20,&#10;      padding: 12,&#10;      justifyContent: 'center',&#10;      alignItems: 'center',&#10;      border: '1px solid rgba(37,99,235,0.2)',&#10;    }}&gt;&#10;      &lt;Image&#10;        src=&quot;assets/01_space_assignments.png&quot;&#10;        style={{ width: '100%', height: '100%', objectFit: 'contain', borderRadius: 12 }}&#10;      /&gt;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05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个人空间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一屏聚合全部学习事务</a:t>
            </a:r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9600" y="1943100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" y="2057400"/>
            <a:ext cx="228600" cy="228600"/>
          </a:xfrm>
          <a:prstGeom prst="rect">
            <a:avLst/>
          </a:prstGeom>
          <a:ln/>
        </p:spPr>
      </p:pic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219200" y="2047875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统一入口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609600" y="2590800"/>
            <a:ext cx="3429000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C7D0E0"/>
                </a:solidFill>
                <a:latin typeface="Microsoft YaHei"/>
                <a:ea typeface="Microsoft YaHei"/>
              </a:rPr>
              <a:t>将「我的作业、成绩历史、薄弱知识点、错题本」整合到导航最左侧，学生无需在不同页面间跳转。</a:t>
            </a:r>
            <a:endParaRPr/>
          </a:p>
        </p:txBody>
      </p:sp>
      <p:pic>
        <p:nvPicPr>
          <p:cNvPr id="33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3810000"/>
            <a:ext cx="171450" cy="171450"/>
          </a:xfrm>
          <a:prstGeom prst="rect">
            <a:avLst/>
          </a:prstGeom>
          <a:ln/>
        </p:spPr>
      </p:pic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76300" y="377190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7D0E0"/>
                </a:solidFill>
                <a:latin typeface="Microsoft YaHei"/>
                <a:ea typeface="Microsoft YaHei"/>
              </a:rPr>
              <a:t>Tab </a:t>
            </a:r>
            <a:r>
              <a:rPr lang="zh-CN" sz="1275">
                <a:solidFill>
                  <a:srgbClr val="C7D0E0"/>
                </a:solidFill>
                <a:latin typeface="Microsoft YaHei"/>
                <a:ea typeface="Microsoft YaHei"/>
              </a:rPr>
              <a:t>按钮等宽放大，状态一目了然</a:t>
            </a:r>
            <a:endParaRPr/>
          </a:p>
        </p:txBody>
      </p:sp>
      <p:pic>
        <p:nvPicPr>
          <p:cNvPr id="33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4210050"/>
            <a:ext cx="171450" cy="171450"/>
          </a:xfrm>
          <a:prstGeom prst="rect">
            <a:avLst/>
          </a:prstGeom>
          <a:ln/>
        </p:spPr>
      </p:pic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876300" y="417195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7D0E0"/>
                </a:solidFill>
                <a:latin typeface="Microsoft YaHei"/>
                <a:ea typeface="Microsoft YaHei"/>
              </a:rPr>
              <a:t>我的作业按</a:t>
            </a:r>
            <a:r>
              <a:rPr lang="en-US" sz="1275">
                <a:solidFill>
                  <a:srgbClr val="C7D0E0"/>
                </a:solidFill>
                <a:latin typeface="Microsoft YaHei"/>
                <a:ea typeface="Microsoft YaHei"/>
              </a:rPr>
              <a:t> DDL </a:t>
            </a:r>
            <a:r>
              <a:rPr lang="zh-CN" sz="1275">
                <a:solidFill>
                  <a:srgbClr val="C7D0E0"/>
                </a:solidFill>
                <a:latin typeface="Microsoft YaHei"/>
                <a:ea typeface="Microsoft YaHei"/>
              </a:rPr>
              <a:t>由近到远排序</a:t>
            </a:r>
            <a:endParaRPr/>
          </a:p>
        </p:txBody>
      </p:sp>
      <p:pic>
        <p:nvPicPr>
          <p:cNvPr id="33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4610100"/>
            <a:ext cx="171450" cy="171450"/>
          </a:xfrm>
          <a:prstGeom prst="rect">
            <a:avLst/>
          </a:prstGeom>
          <a:ln/>
        </p:spPr>
      </p:pic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76300" y="457200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C7D0E0"/>
                </a:solidFill>
                <a:latin typeface="Microsoft YaHei"/>
                <a:ea typeface="Microsoft YaHei"/>
              </a:rPr>
              <a:t>24 </a:t>
            </a:r>
            <a:r>
              <a:rPr lang="zh-CN" sz="1275">
                <a:solidFill>
                  <a:srgbClr val="C7D0E0"/>
                </a:solidFill>
                <a:latin typeface="Microsoft YaHei"/>
                <a:ea typeface="Microsoft YaHei"/>
              </a:rPr>
              <a:t>小时内截止自动进入红色紧急区</a:t>
            </a:r>
            <a:endParaRPr/>
          </a:p>
        </p:txBody>
      </p:sp>
      <p:pic>
        <p:nvPicPr>
          <p:cNvPr id="3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09600" y="5010150"/>
            <a:ext cx="171450" cy="171450"/>
          </a:xfrm>
          <a:prstGeom prst="rect">
            <a:avLst/>
          </a:prstGeom>
          <a:ln/>
        </p:spPr>
      </p:pic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76300" y="4972050"/>
            <a:ext cx="316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7D0E0"/>
                </a:solidFill>
                <a:latin typeface="Microsoft YaHei"/>
                <a:ea typeface="Microsoft YaHei"/>
              </a:rPr>
              <a:t>实时倒计时提醒，杜绝遗漏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343400" y="1038225"/>
            <a:ext cx="7239000" cy="5048250"/>
          </a:xfrm>
          <a:prstGeom prst="roundRect">
            <a:avLst>
              <a:gd name="adj" fmla="val 3774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43" name=""/>
          <p:cNvPicPr>
            <a:picLocks noChangeAspect="1"/>
          </p:cNvPicPr>
          <p:nvPr/>
        </p:nvPicPr>
        <p:blipFill>
          <a:blip r:embed="rId3"/>
          <a:srcRect l="4545" t="0" r="4545" b="0"/>
          <a:stretch>
            <a:fillRect/>
          </a:stretch>
        </p:blipFill>
        <p:spPr>
          <a:xfrm rot="0" flipH="0" flipV="0">
            <a:off x="4457700" y="1152525"/>
            <a:ext cx="7010400" cy="4819650"/>
          </a:xfrm>
          <a:prstGeom prst="roundRect">
            <a:avLst>
              <a:gd name="adj" fmla="val 2372"/>
            </a:avLst>
          </a:prstGeom>
          <a:ln/>
        </p:spPr>
      </p:pic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05 / 18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46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0,&#10;    fontFamily: '&quot;PingFang SC&quot;,&quot;Microsoft YaHei&quot;,sans-serif',&#10;  }}&gt;&#10;    我的作业 · 24 小时紧急区 + 整卡开卷&#10;  &lt;/Text&gt;&#10;  &lt;Box style={{&#10;    flex: 1,&#10;    background: '#131C33',&#10;    borderRadius: 20,&#10;    padding: 10,&#10;    border: '1px solid rgba(37,99,235,0.2)',&#10;    marginBottom: 20,&#10;  }}&gt;&#10;    &lt;Image&#10;      src=&quot;assets/01_space_assignments.png&quot;&#10;      style={{ width: '100%', height: '100%', objectFit: 'contain', borderRadius: 12 }}&#10;    /&gt;&#10;  &lt;/Box&gt;&#10;  &lt;Box style={{&#10;    flexDirection: 'row',&#10;    gap: 20,&#10;  }}&gt;&#10;    {[&#10;      { icon: 'clock', title: 'DDL 由近到远', desc: '默认按截止时间升序排列' },&#10;      { icon: 'exclamation-circle', title: '24h 紧急区', desc: '独立红色区域 + 实时倒计时' },&#10;      { icon: 'arrow-right', title: '整卡开卷', desc: '点击卡片任意处即可继续作答' },&#10;    ].map((c, i) =&gt; (&#10;      &lt;Box key={i} style={{&#10;        flex: 1,&#10;        background: '#131C33',&#10;        borderRadius: 14,&#10;        padding: 18,&#10;        flexDirection: 'row',&#10;        alignItems: 'center',&#10;        gap: 14,&#10;        borderLeft: '3px solid #D4AF37',&#10;      }}&gt;&#10;        &lt;FAIcon name={c.icon} style={{ fill: '#D4AF37', width: 28, height: 28 }} /&gt;&#10;        &lt;Box&gt;&#10;          &lt;Text style={{ fontSize: 18, fontWeight: 'bold', color: '#F8FAFC' }}&gt;{c.title}&lt;/Text&gt;&#10;          &lt;Text style={{ fontSize: 15, color: '#7A89A3', marginTop: 4 }}&gt;{c.desc}&lt;/Text&gt;&#10;        &lt;/Box&gt;&#10;      &lt;/Box&gt;&#10;    ))}&#10;  &lt;/Box&gt;&#10;  &lt;Box style={{&#10;    flexDirection: 'row',&#10;    justifyContent: 'space-between',&#10;    marginTop: 20,&#10;  }}&gt;&#10;    &lt;Text style={{ fontSize: 14, color: '#7A89A3' }}&gt;金瑞升学 · 金鹰系统&lt;/Text&gt;&#10;    &lt;Text style={{ fontSize: 14, color: '#7A89A3' }}&gt;06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我的作业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24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小时紧急区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整卡开卷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609600" y="962025"/>
            <a:ext cx="10972800" cy="4210050"/>
          </a:xfrm>
          <a:prstGeom prst="roundRect">
            <a:avLst>
              <a:gd name="adj" fmla="val 452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0" name=""/>
          <p:cNvPicPr>
            <a:picLocks noChangeAspect="1"/>
          </p:cNvPicPr>
          <p:nvPr/>
        </p:nvPicPr>
        <p:blipFill>
          <a:blip r:embed="rId1"/>
          <a:srcRect l="0" t="20176" r="0" b="20176"/>
          <a:stretch>
            <a:fillRect/>
          </a:stretch>
        </p:blipFill>
        <p:spPr>
          <a:xfrm rot="0" flipH="0" flipV="0">
            <a:off x="704850" y="1057275"/>
            <a:ext cx="10782300" cy="4019550"/>
          </a:xfrm>
          <a:prstGeom prst="roundRect">
            <a:avLst>
              <a:gd name="adj" fmla="val 2844"/>
            </a:avLst>
          </a:prstGeom>
          <a:ln/>
        </p:spPr>
      </p:pic>
      <p:sp>
        <p:nvSpPr>
          <p:cNvPr id="351" name=""/>
          <p:cNvSpPr/>
          <p:nvPr/>
        </p:nvSpPr>
        <p:spPr>
          <a:xfrm rot="0" flipH="0" flipV="0">
            <a:off x="638175" y="5362575"/>
            <a:ext cx="3533775" cy="762000"/>
          </a:xfrm>
          <a:prstGeom prst="roundRect">
            <a:avLst>
              <a:gd name="adj" fmla="val 175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52" name=""/>
          <p:cNvSpPr/>
          <p:nvPr/>
        </p:nvSpPr>
        <p:spPr>
          <a:xfrm rot="0" flipH="0" flipV="0">
            <a:off x="638175" y="5362575"/>
            <a:ext cx="3533775" cy="762000"/>
          </a:xfrm>
          <a:custGeom>
            <a:pathLst>
              <a:path w="371" h="80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9"/>
                </a:lnTo>
                <a:cubicBezTo>
                  <a:pt x="3" y="74"/>
                  <a:pt x="6" y="78"/>
                  <a:pt x="11" y="80"/>
                </a:cubicBezTo>
                <a:cubicBezTo>
                  <a:pt x="4" y="78"/>
                  <a:pt x="0" y="72"/>
                  <a:pt x="0" y="66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3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9625" y="5610225"/>
            <a:ext cx="266700" cy="266700"/>
          </a:xfrm>
          <a:prstGeom prst="rect">
            <a:avLst/>
          </a:prstGeom>
          <a:ln/>
        </p:spPr>
      </p:pic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1209675" y="5534025"/>
            <a:ext cx="15716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>DDL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由近到远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209675" y="5781675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默认按截止时间升序排列</a:t>
            </a:r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4362450" y="5362575"/>
            <a:ext cx="3524250" cy="762000"/>
          </a:xfrm>
          <a:prstGeom prst="roundRect">
            <a:avLst>
              <a:gd name="adj" fmla="val 175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57" name=""/>
          <p:cNvSpPr/>
          <p:nvPr/>
        </p:nvSpPr>
        <p:spPr>
          <a:xfrm rot="0" flipH="0" flipV="0">
            <a:off x="4362450" y="5362575"/>
            <a:ext cx="3524250" cy="762000"/>
          </a:xfrm>
          <a:custGeom>
            <a:pathLst>
              <a:path w="370" h="80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9"/>
                </a:lnTo>
                <a:cubicBezTo>
                  <a:pt x="3" y="74"/>
                  <a:pt x="6" y="78"/>
                  <a:pt x="11" y="80"/>
                </a:cubicBezTo>
                <a:cubicBezTo>
                  <a:pt x="4" y="78"/>
                  <a:pt x="0" y="72"/>
                  <a:pt x="0" y="66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35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533900" y="5610225"/>
            <a:ext cx="266700" cy="266700"/>
          </a:xfrm>
          <a:prstGeom prst="rect">
            <a:avLst/>
          </a:prstGeom>
          <a:ln/>
        </p:spPr>
      </p:pic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4933950" y="5534025"/>
            <a:ext cx="17430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>24h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紧急区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4933950" y="5781675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独立红色区域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实时倒计时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8077200" y="5362575"/>
            <a:ext cx="3533775" cy="762000"/>
          </a:xfrm>
          <a:prstGeom prst="roundRect">
            <a:avLst>
              <a:gd name="adj" fmla="val 17500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8077200" y="5362575"/>
            <a:ext cx="3533775" cy="762000"/>
          </a:xfrm>
          <a:custGeom>
            <a:pathLst>
              <a:path w="371" h="80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9"/>
                </a:lnTo>
                <a:cubicBezTo>
                  <a:pt x="3" y="74"/>
                  <a:pt x="6" y="78"/>
                  <a:pt x="11" y="80"/>
                </a:cubicBezTo>
                <a:cubicBezTo>
                  <a:pt x="4" y="78"/>
                  <a:pt x="0" y="72"/>
                  <a:pt x="0" y="66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36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248650" y="5610225"/>
            <a:ext cx="266700" cy="266700"/>
          </a:xfrm>
          <a:prstGeom prst="rect">
            <a:avLst/>
          </a:prstGeom>
          <a:ln/>
        </p:spPr>
      </p:pic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648700" y="5534025"/>
            <a:ext cx="1857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整卡开卷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648700" y="5781675"/>
            <a:ext cx="1857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点击卡片任意处即可继续作答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06 / 18</a:t>
            </a:r>
            <a:endParaRPr/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8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0,&#10;    fontFamily: '&quot;PingFang SC&quot;,&quot;Microsoft YaHei&quot;,sans-serif',&#10;  }}&gt;&#10;    薄弱知识点 / 学情诊断 · 多维画像自动定位短板&#10;  &lt;/Text&gt;&#10;  &lt;Box style={{&#10;    flexDirection: 'row',&#10;    gap: 28,&#10;    flex: 1,&#10;    alignItems: 'stretch',&#10;  }}&gt;&#10;    &lt;Box style={{&#10;      flex: 1,&#10;      background: '#131C33',&#10;      borderRadius: 20,&#10;      padding: 10,&#10;      border: '1px solid rgba(37,99,235,0.2)',&#10;    }}&gt;&#10;      &lt;Image&#10;        src=&quot;assets/02_space_analysis.png&quot;&#10;        style={{ width: '100%', height: '100%', objectFit: 'contain', borderRadius: 12 }}&#10;      /&gt;&#10;    &lt;/Box&gt;&#10;    &lt;Box style={{&#10;      width: 340,&#10;      flexDirection: 'column',&#10;      gap: 16,&#10;      justifyContent: 'center',&#10;    }}&gt;&#10;      {[&#10;        { title: '科目维度', desc: '数学 / 物理 / 化学 / 生物分科正确率' },&#10;        { title: '难度维度', desc: '1–5 星难度下的表现分布' },&#10;        { title: '模式维度', desc: '练习 vs 模考两种场景对比' },&#10;        { title: '知识点维度', desc: '雷达图 + 按正确率排序的薄弱点' },&#10;      ].map((d, i) =&gt; (&#10;        &lt;Box key={i} style={{&#10;          background: '#131C33',&#10;          borderRadius: 14,&#10;          padding: 18,&#10;          flexDirection: 'column',&#10;          gap: 6,&#10;          borderLeft: '3px solid #2563EB',&#10;        }}&gt;&#10;          &lt;Text style={{ fontSize: 18, fontWeight: 'bold', color: '#F8FAFC' }}&gt;{d.title}&lt;/Text&gt;&#10;          &lt;Text style={{ fontSize: 15, color: '#7A89A3' }}&gt;{d.desc}&lt;/Text&gt;&#10;        &lt;/Box&gt;&#10;      ))}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07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薄弱知识点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/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学情诊断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多维画像自动定位短板</a:t>
            </a:r>
            <a:endParaRPr/>
          </a:p>
        </p:txBody>
      </p:sp>
      <p:sp>
        <p:nvSpPr>
          <p:cNvPr id="371" name=""/>
          <p:cNvSpPr/>
          <p:nvPr/>
        </p:nvSpPr>
        <p:spPr>
          <a:xfrm rot="0" flipH="0" flipV="0">
            <a:off x="609600" y="962025"/>
            <a:ext cx="7467600" cy="5124450"/>
          </a:xfrm>
          <a:prstGeom prst="roundRect">
            <a:avLst>
              <a:gd name="adj" fmla="val 3717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72" name=""/>
          <p:cNvPicPr>
            <a:picLocks noChangeAspect="1"/>
          </p:cNvPicPr>
          <p:nvPr/>
        </p:nvPicPr>
        <p:blipFill>
          <a:blip r:embed="rId1"/>
          <a:srcRect l="3909" t="0" r="3909" b="0"/>
          <a:stretch>
            <a:fillRect/>
          </a:stretch>
        </p:blipFill>
        <p:spPr>
          <a:xfrm rot="0" flipH="0" flipV="0">
            <a:off x="704850" y="1057275"/>
            <a:ext cx="7277100" cy="4933950"/>
          </a:xfrm>
          <a:prstGeom prst="roundRect">
            <a:avLst>
              <a:gd name="adj" fmla="val 2317"/>
            </a:avLst>
          </a:prstGeom>
          <a:ln/>
        </p:spPr>
      </p:pic>
      <p:sp>
        <p:nvSpPr>
          <p:cNvPr id="373" name=""/>
          <p:cNvSpPr/>
          <p:nvPr/>
        </p:nvSpPr>
        <p:spPr>
          <a:xfrm rot="0" flipH="0" flipV="0">
            <a:off x="8372475" y="1733550"/>
            <a:ext cx="32385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74" name=""/>
          <p:cNvSpPr/>
          <p:nvPr/>
        </p:nvSpPr>
        <p:spPr>
          <a:xfrm rot="0" flipH="0" flipV="0">
            <a:off x="8372475" y="1733550"/>
            <a:ext cx="3238500" cy="781050"/>
          </a:xfrm>
          <a:custGeom>
            <a:pathLst>
              <a:path w="34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543925" y="1905000"/>
            <a:ext cx="2867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科目维度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8543925" y="217170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数学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物理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化学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生物分科正确率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8372475" y="2667000"/>
            <a:ext cx="32385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78" name=""/>
          <p:cNvSpPr/>
          <p:nvPr/>
        </p:nvSpPr>
        <p:spPr>
          <a:xfrm rot="0" flipH="0" flipV="0">
            <a:off x="8372475" y="2667000"/>
            <a:ext cx="3238500" cy="781050"/>
          </a:xfrm>
          <a:custGeom>
            <a:pathLst>
              <a:path w="34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8543925" y="2838450"/>
            <a:ext cx="2867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难度维度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8543925" y="310515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1–5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星难度下的表现分布</a:t>
            </a:r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8372475" y="3600450"/>
            <a:ext cx="32385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82" name=""/>
          <p:cNvSpPr/>
          <p:nvPr/>
        </p:nvSpPr>
        <p:spPr>
          <a:xfrm rot="0" flipH="0" flipV="0">
            <a:off x="8372475" y="3600450"/>
            <a:ext cx="3238500" cy="781050"/>
          </a:xfrm>
          <a:custGeom>
            <a:pathLst>
              <a:path w="34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8543925" y="3771900"/>
            <a:ext cx="2867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模式维度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8543925" y="403860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练习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vs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模考两种场景对比</a:t>
            </a:r>
            <a:endParaRPr/>
          </a:p>
        </p:txBody>
      </p:sp>
      <p:sp>
        <p:nvSpPr>
          <p:cNvPr id="385" name=""/>
          <p:cNvSpPr/>
          <p:nvPr/>
        </p:nvSpPr>
        <p:spPr>
          <a:xfrm rot="0" flipH="0" flipV="0">
            <a:off x="8372475" y="4533900"/>
            <a:ext cx="32385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86" name=""/>
          <p:cNvSpPr/>
          <p:nvPr/>
        </p:nvSpPr>
        <p:spPr>
          <a:xfrm rot="0" flipH="0" flipV="0">
            <a:off x="8372475" y="4533900"/>
            <a:ext cx="3238500" cy="781050"/>
          </a:xfrm>
          <a:custGeom>
            <a:pathLst>
              <a:path w="34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8543925" y="4705350"/>
            <a:ext cx="28670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知识点维度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8543925" y="4972050"/>
            <a:ext cx="2867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雷达图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按正确率排序的薄弱点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90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07 / 18</a:t>
            </a:r>
            <a:endParaRPr/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91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成绩历史 + 错题本 · 往期表现与错题闭环&#10;  &lt;/Text&gt;&#10;  &lt;Box style={{&#10;    flexDirection: 'row',&#10;    gap: 24,&#10;    flex: 1,&#10;    alignItems: 'stretch',&#10;  }}&gt;&#10;    &lt;Box style={{&#10;      flex: 1,&#10;      background: '#131C33',&#10;      borderRadius: 20,&#10;      padding: 10,&#10;      border: '1px solid rgba(37,99,235,0.2)',&#10;      flexDirection: 'column',&#10;    }}&gt;&#10;      &lt;Image&#10;        src=&quot;assets/03_space_grades.png&quot;&#10;        style={{ width: '100%', flex: 1, objectFit: 'contain', borderRadius: 12 }}&#10;      /&gt;&#10;      &lt;Text style={{ fontSize: 15, color: '#7A89A3', textAlign: 'center', marginTop: 8 }}&gt;&#10;        全部成绩记录 · 练习 / 模考 / 语言 Band 报告&#10;      &lt;/Text&gt;&#10;    &lt;/Box&gt;&#10;    &lt;Box style={{&#10;      flex: 1,&#10;      background: '#131C33',&#10;      borderRadius: 20,&#10;      padding: 10,&#10;      border: '1px solid rgba(37,99,235,0.2)',&#10;      flexDirection: 'column',&#10;    }}&gt;&#10;      &lt;Image&#10;        src=&quot;assets/04_space_wrong.png&quot;&#10;        style={{ width: '100%', flex: 1, objectFit: 'contain', borderRadius: 12 }}&#10;      /&gt;&#10;      &lt;Text style={{ fontSize: 15, color: '#7A89A3', textAlign: 'center', marginTop: 8 }}&gt;&#10;        错题本 · 学科筛选 / 折叠解析 / 标记掌握&#10;      &lt;/Text&gt;&#10;    &lt;/Box&gt;&#10;  &lt;/Box&gt;&#10;  &lt;Box style={{&#10;    flexDirection: 'row',&#10;    justifyContent: 'space-between',&#10;    marginTop: 20,&#10;  }}&gt;&#10;    &lt;Text style={{ fontSize: 14, color: '#7A89A3' }}&gt;金瑞升学 · 金鹰系统&lt;/Text&gt;&#10;    &lt;Text style={{ fontSize: 14, color: '#7A89A3' }}&gt;08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成绩历史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+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错题本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往期表现与错题闭环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609600" y="1000125"/>
            <a:ext cx="5372100" cy="5124450"/>
          </a:xfrm>
          <a:prstGeom prst="roundRect">
            <a:avLst>
              <a:gd name="adj" fmla="val 3717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95" name=""/>
          <p:cNvPicPr>
            <a:picLocks noChangeAspect="1"/>
          </p:cNvPicPr>
          <p:nvPr/>
        </p:nvPicPr>
        <p:blipFill>
          <a:blip r:embed="rId1"/>
          <a:srcRect l="15447" t="0" r="15447" b="0"/>
          <a:stretch>
            <a:fillRect/>
          </a:stretch>
        </p:blipFill>
        <p:spPr>
          <a:xfrm rot="0" flipH="0" flipV="0">
            <a:off x="704850" y="1095375"/>
            <a:ext cx="5181600" cy="4686300"/>
          </a:xfrm>
          <a:prstGeom prst="roundRect">
            <a:avLst>
              <a:gd name="adj" fmla="val 2439"/>
            </a:avLst>
          </a:prstGeom>
          <a:ln/>
        </p:spPr>
      </p:pic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704850" y="5857875"/>
            <a:ext cx="5181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全部成绩记录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练习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模考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语言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Band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报告</a:t>
            </a:r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6210300" y="1000125"/>
            <a:ext cx="5372100" cy="5124450"/>
          </a:xfrm>
          <a:prstGeom prst="roundRect">
            <a:avLst>
              <a:gd name="adj" fmla="val 3717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98" name=""/>
          <p:cNvPicPr>
            <a:picLocks noChangeAspect="1"/>
          </p:cNvPicPr>
          <p:nvPr/>
        </p:nvPicPr>
        <p:blipFill>
          <a:blip r:embed="rId2"/>
          <a:srcRect l="15447" t="0" r="15447" b="0"/>
          <a:stretch>
            <a:fillRect/>
          </a:stretch>
        </p:blipFill>
        <p:spPr>
          <a:xfrm rot="0" flipH="0" flipV="0">
            <a:off x="6305550" y="1095375"/>
            <a:ext cx="5181600" cy="4686300"/>
          </a:xfrm>
          <a:prstGeom prst="roundRect">
            <a:avLst>
              <a:gd name="adj" fmla="val 2439"/>
            </a:avLst>
          </a:prstGeom>
          <a:ln/>
        </p:spPr>
      </p:pic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305550" y="5857875"/>
            <a:ext cx="51816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错题本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学科筛选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折叠解析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标记掌握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08 / 18</a:t>
            </a:r>
            <a:endParaRPr/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2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刷题练习 · 试卷库与精准筛选&#10;  &lt;/Text&gt;&#10;  &lt;Box style={{&#10;    flexDirection: 'row',&#10;    gap: 28,&#10;    flex: 1,&#10;    alignItems: 'stretch',&#10;  }}&gt;&#10;    &lt;Box style={{&#10;      width: 360,&#10;      flexDirection: 'column',&#10;      justifyContent: 'center',&#10;      gap: 22,&#10;    }}&gt;&#10;      &lt;Text style={{ fontSize: 19, color: '#C7D0E0', lineHeight: 1.6 }}&gt;&#10;        覆盖数学、物理、化学、生物等学科，支持原版真题与教师自组卷，学生可按科目、套题类型、知识点、难度、题量一键筛选。&#10;      &lt;/Text&gt;&#10;      {[&#10;        { title: '多维度筛选', desc: '学科 / 原版·组卷 / 知识点 / 难度 / 题量' },&#10;        { title: '整卡可点', desc: '卡片即按钮，右侧箭头一键开卷' },&#10;        { title: '练习 &amp; 模考', desc: '普通练习不限时，模考严格倒计时' },&#10;      ].map((c, i) =&gt; (&#10;        &lt;Box key={i} style={{&#10;          background: '#131C33',&#10;          borderRadius: 14,&#10;          padding: 18,&#10;          flexDirection: 'column',&#10;          gap: 6,&#10;          borderLeft: '3px solid #2563EB',&#10;        }}&gt;&#10;          &lt;Text style={{ fontSize: 18, fontWeight: 'bold', color: '#F8FAFC' }}&gt;{c.title}&lt;/Text&gt;&#10;          &lt;Text style={{ fontSize: 15, color: '#7A89A3' }}&gt;{c.desc}&lt;/Text&gt;&#10;        &lt;/Box&gt;&#10;      ))}&#10;    &lt;/Box&gt;&#10;    &lt;Box style={{&#10;      flex: 1,&#10;      background: '#131C33',&#10;      borderRadius: 20,&#10;      padding: 10,&#10;      border: '1px solid rgba(37,99,235,0.2)',&#10;      justifyContent: 'center',&#10;      alignItems: 'center',&#10;    }}&gt;&#10;      &lt;Image&#10;        src=&quot;assets/05_practice_library.png&quot;&#10;        style={{ width: '100%', height: '100%', objectFit: 'contain', borderRadius: 12 }}&#10;      /&gt;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09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刷题练习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试卷库与精准筛选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1362075"/>
            <a:ext cx="3429000" cy="1390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覆盖数学、物理、化学、生物等学科，支持原版真题与教师自组卷，学生可按科目、套题类型、知识点、难度、题量一键筛选。</a:t>
            </a:r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638175" y="2962275"/>
            <a:ext cx="34290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407" name=""/>
          <p:cNvSpPr/>
          <p:nvPr/>
        </p:nvSpPr>
        <p:spPr>
          <a:xfrm rot="0" flipH="0" flipV="0">
            <a:off x="638175" y="2962275"/>
            <a:ext cx="3429000" cy="781050"/>
          </a:xfrm>
          <a:custGeom>
            <a:pathLst>
              <a:path w="36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809625" y="3133725"/>
            <a:ext cx="3057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多维度筛选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09625" y="3400425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学科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原版·组卷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知识点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难度</a:t>
            </a:r>
            <a:r>
              <a:rPr lang="en-US" sz="1125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题量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38175" y="3952875"/>
            <a:ext cx="34290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411" name=""/>
          <p:cNvSpPr/>
          <p:nvPr/>
        </p:nvSpPr>
        <p:spPr>
          <a:xfrm rot="0" flipH="0" flipV="0">
            <a:off x="638175" y="3952875"/>
            <a:ext cx="3429000" cy="781050"/>
          </a:xfrm>
          <a:custGeom>
            <a:pathLst>
              <a:path w="36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09625" y="4124325"/>
            <a:ext cx="3057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整卡可点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809625" y="4391025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卡片即按钮，右侧箭头一键开卷</a:t>
            </a:r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638175" y="4943475"/>
            <a:ext cx="3429000" cy="781050"/>
          </a:xfrm>
          <a:prstGeom prst="roundRect">
            <a:avLst>
              <a:gd name="adj" fmla="val 17073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415" name=""/>
          <p:cNvSpPr/>
          <p:nvPr/>
        </p:nvSpPr>
        <p:spPr>
          <a:xfrm rot="0" flipH="0" flipV="0">
            <a:off x="638175" y="4943475"/>
            <a:ext cx="3429000" cy="781050"/>
          </a:xfrm>
          <a:custGeom>
            <a:pathLst>
              <a:path w="360" h="82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71"/>
                </a:lnTo>
                <a:cubicBezTo>
                  <a:pt x="3" y="76"/>
                  <a:pt x="6" y="80"/>
                  <a:pt x="11" y="82"/>
                </a:cubicBezTo>
                <a:cubicBezTo>
                  <a:pt x="4" y="80"/>
                  <a:pt x="0" y="74"/>
                  <a:pt x="0" y="68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809625" y="5114925"/>
            <a:ext cx="3057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练习</a:t>
            </a: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> &amp;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模考</a:t>
            </a:r>
            <a:endParaRPr/>
          </a:p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809625" y="5381625"/>
            <a:ext cx="3057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7A89A3"/>
                </a:solidFill>
                <a:latin typeface="Microsoft YaHei"/>
                <a:ea typeface="Microsoft YaHei"/>
              </a:rPr>
              <a:t>普通练习不限时，模考严格倒计时</a:t>
            </a:r>
            <a:endParaRPr/>
          </a:p>
        </p:txBody>
      </p:sp>
      <p:sp>
        <p:nvSpPr>
          <p:cNvPr id="418" name=""/>
          <p:cNvSpPr/>
          <p:nvPr/>
        </p:nvSpPr>
        <p:spPr>
          <a:xfrm rot="0" flipH="0" flipV="0">
            <a:off x="4305300" y="1000125"/>
            <a:ext cx="7277100" cy="5086350"/>
          </a:xfrm>
          <a:prstGeom prst="roundRect">
            <a:avLst>
              <a:gd name="adj" fmla="val 374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19" name=""/>
          <p:cNvPicPr>
            <a:picLocks noChangeAspect="1"/>
          </p:cNvPicPr>
          <p:nvPr/>
        </p:nvPicPr>
        <p:blipFill>
          <a:blip r:embed="rId1"/>
          <a:srcRect l="4766" t="0" r="4766" b="0"/>
          <a:stretch>
            <a:fillRect/>
          </a:stretch>
        </p:blipFill>
        <p:spPr>
          <a:xfrm rot="0" flipH="0" flipV="0">
            <a:off x="4400550" y="1095375"/>
            <a:ext cx="7086600" cy="4895850"/>
          </a:xfrm>
          <a:prstGeom prst="roundRect">
            <a:avLst>
              <a:gd name="adj" fmla="val 2335"/>
            </a:avLst>
          </a:prstGeom>
          <a:ln/>
        </p:spPr>
      </p:pic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09 / 18</a:t>
            </a:r>
            <a:endParaRPr/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16,&#10;    fontFamily: '&quot;PingFang SC&quot;,&quot;Microsoft YaHei&quot;,sans-serif',&#10;  }}&gt;&#10;    语言学习 · 雅思 / 托福 / 剑桥 KET/PET 全技能覆盖&#10;  &lt;/Text&gt;&#10;  &lt;Box style={{&#10;    height: 370,&#10;    background: '#131C33',&#10;    borderRadius: 20,&#10;    padding: 10,&#10;    border: '1px solid rgba(37,99,235,0.2)',&#10;    justifyContent: 'center',&#10;    alignItems: 'center',&#10;    marginBottom: 16,&#10;  }}&gt;&#10;    &lt;Image&#10;      src=&quot;assets/06_language_library.png&quot;&#10;      style={{ width: '100%', height: '100%', objectFit: 'contain', borderRadius: 12 }}&#10;    /&gt;&#10;  &lt;/Box&gt;&#10;  &lt;Box style={{&#10;    flexDirection: 'row',&#10;    gap: 16,&#10;    height: 110,&#10;  }}&gt;&#10;    {[&#10;      { title: '听力', desc: '音频播放 + 逐题作答' },&#10;      { title: '阅读', desc: '高亮定位 + 限时模考' },&#10;      { title: '写作', desc: '字数统计 + 范文解析' },&#10;      { title: '口语', desc: '录音作答 + 评分反馈' },&#10;    ].map((c, i) =&gt; (&#10;      &lt;Box key={i} style={{&#10;        flex: 1,&#10;        background: '#131C33',&#10;        borderRadius: 12,&#10;        padding: 14,&#10;        flexDirection: 'column',&#10;        justifyContent: 'center',&#10;        gap: 6,&#10;        borderTop: '3px solid #D4AF37',&#10;      }}&gt;&#10;        &lt;Text style={{ fontSize: 18, fontWeight: 'bold', color: '#F8FAFC' }}&gt;{c.title}&lt;/Text&gt;&#10;        &lt;Text style={{ fontSize: 14, color: '#7A89A3' }}&gt;{c.desc}&lt;/Text&gt;&#10;      &lt;/Box&gt;&#10;    ))}&#10;  &lt;/Box&gt;&#10;  &lt;Box style={{&#10;    flexDirection: 'row',&#10;    justifyContent: 'space-between',&#10;    marginTop: 18,&#10;  }}&gt;&#10;    &lt;Text style={{ fontSize: 14, color: '#7A89A3' }}&gt;金瑞升学 · 金鹰系统&lt;/Text&gt;&#10;    &lt;Text style={{ fontSize: 14, color: '#7A89A3' }}&gt;10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语言学习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雅思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/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托福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/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剑桥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KET/PET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全技能覆盖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09600" y="923925"/>
            <a:ext cx="10972800" cy="3524250"/>
          </a:xfrm>
          <a:prstGeom prst="roundRect">
            <a:avLst>
              <a:gd name="adj" fmla="val 540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" name=""/>
          <p:cNvPicPr>
            <a:picLocks noChangeAspect="1"/>
          </p:cNvPicPr>
          <p:nvPr/>
        </p:nvPicPr>
        <p:blipFill>
          <a:blip r:embed="rId1"/>
          <a:srcRect l="0" t="25265" r="0" b="25265"/>
          <a:stretch>
            <a:fillRect/>
          </a:stretch>
        </p:blipFill>
        <p:spPr>
          <a:xfrm rot="0" flipH="0" flipV="0">
            <a:off x="704850" y="1019175"/>
            <a:ext cx="10782300" cy="3333750"/>
          </a:xfrm>
          <a:prstGeom prst="roundRect">
            <a:avLst>
              <a:gd name="adj" fmla="val 3429"/>
            </a:avLst>
          </a:prstGeom>
          <a:ln/>
        </p:spPr>
      </p:pic>
      <p:sp>
        <p:nvSpPr>
          <p:cNvPr id="16" name=""/>
          <p:cNvSpPr/>
          <p:nvPr/>
        </p:nvSpPr>
        <p:spPr>
          <a:xfrm rot="0" flipH="0" flipV="0">
            <a:off x="609600" y="4629150"/>
            <a:ext cx="2628900" cy="1047750"/>
          </a:xfrm>
          <a:prstGeom prst="roundRect">
            <a:avLst>
              <a:gd name="adj" fmla="val 1090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609600" y="4629150"/>
            <a:ext cx="2628900" cy="1047750"/>
          </a:xfrm>
          <a:custGeom>
            <a:pathLst>
              <a:path w="276" h="110">
                <a:moveTo>
                  <a:pt x="265" y="0"/>
                </a:moveTo>
                <a:cubicBezTo>
                  <a:pt x="270" y="0"/>
                  <a:pt x="275" y="4"/>
                  <a:pt x="276" y="9"/>
                </a:cubicBezTo>
                <a:cubicBezTo>
                  <a:pt x="274" y="6"/>
                  <a:pt x="271" y="3"/>
                  <a:pt x="267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742950" y="4924425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听力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742950" y="519112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音频播放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逐题作答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3390900" y="4629150"/>
            <a:ext cx="2628900" cy="1047750"/>
          </a:xfrm>
          <a:prstGeom prst="roundRect">
            <a:avLst>
              <a:gd name="adj" fmla="val 1090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1" name=""/>
          <p:cNvSpPr/>
          <p:nvPr/>
        </p:nvSpPr>
        <p:spPr>
          <a:xfrm rot="0" flipH="0" flipV="0">
            <a:off x="3390900" y="4629150"/>
            <a:ext cx="2628900" cy="1047750"/>
          </a:xfrm>
          <a:custGeom>
            <a:pathLst>
              <a:path w="276" h="110">
                <a:moveTo>
                  <a:pt x="265" y="0"/>
                </a:moveTo>
                <a:cubicBezTo>
                  <a:pt x="270" y="0"/>
                  <a:pt x="275" y="4"/>
                  <a:pt x="276" y="9"/>
                </a:cubicBezTo>
                <a:cubicBezTo>
                  <a:pt x="274" y="6"/>
                  <a:pt x="271" y="3"/>
                  <a:pt x="267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3524250" y="4924425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阅读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3524250" y="519112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高亮定位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限时模考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172200" y="4629150"/>
            <a:ext cx="2628900" cy="1047750"/>
          </a:xfrm>
          <a:prstGeom prst="roundRect">
            <a:avLst>
              <a:gd name="adj" fmla="val 1090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172200" y="4629150"/>
            <a:ext cx="2628900" cy="1047750"/>
          </a:xfrm>
          <a:custGeom>
            <a:pathLst>
              <a:path w="276" h="110">
                <a:moveTo>
                  <a:pt x="265" y="0"/>
                </a:moveTo>
                <a:cubicBezTo>
                  <a:pt x="270" y="0"/>
                  <a:pt x="275" y="4"/>
                  <a:pt x="276" y="9"/>
                </a:cubicBezTo>
                <a:cubicBezTo>
                  <a:pt x="274" y="6"/>
                  <a:pt x="271" y="3"/>
                  <a:pt x="267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6305550" y="4924425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写作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305550" y="519112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字数统计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范文解析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8953500" y="4629150"/>
            <a:ext cx="2628900" cy="1047750"/>
          </a:xfrm>
          <a:prstGeom prst="roundRect">
            <a:avLst>
              <a:gd name="adj" fmla="val 1090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9" name=""/>
          <p:cNvSpPr/>
          <p:nvPr/>
        </p:nvSpPr>
        <p:spPr>
          <a:xfrm rot="0" flipH="0" flipV="0">
            <a:off x="8953500" y="4629150"/>
            <a:ext cx="2628900" cy="1047750"/>
          </a:xfrm>
          <a:custGeom>
            <a:pathLst>
              <a:path w="276" h="110">
                <a:moveTo>
                  <a:pt x="265" y="0"/>
                </a:moveTo>
                <a:cubicBezTo>
                  <a:pt x="270" y="0"/>
                  <a:pt x="275" y="4"/>
                  <a:pt x="276" y="9"/>
                </a:cubicBezTo>
                <a:cubicBezTo>
                  <a:pt x="274" y="6"/>
                  <a:pt x="271" y="3"/>
                  <a:pt x="267" y="3"/>
                </a:cubicBezTo>
                <a:lnTo>
                  <a:pt x="9" y="3"/>
                </a:lnTo>
                <a:cubicBezTo>
                  <a:pt x="5" y="3"/>
                  <a:pt x="1" y="6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64" y="0"/>
                </a:ln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086850" y="4924425"/>
            <a:ext cx="23622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口语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9086850" y="5191125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录音作答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+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评分反馈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09600" y="58197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172825" y="58197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10 / 18</a:t>
            </a:r>
            <a:endParaRPr/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冒险模式 · Roguelike 即时战斗让刷题更上瘾&#10;  &lt;/Text&gt;&#10;  &lt;Box style={{&#10;    flexDirection: 'row',&#10;    gap: 28,&#10;    flex: 1,&#10;    alignItems: 'stretch',&#10;  }}&gt;&#10;    &lt;Box style={{&#10;      width: 360,&#10;      flexDirection: 'column',&#10;      justifyContent: 'center',&#10;      gap: 18,&#10;    }}&gt;&#10;      &lt;Text style={{ fontSize: 19, color: '#C7D0E0', lineHeight: 1.6 }}&gt;&#10;        把答题正确率转化为战斗伤害，答错则扣血；爬塔、Boss、奖励节点、被动技能树让备考像游戏一样有反馈。&#10;      &lt;/Text&gt;&#10;      {[&#10;        { title: '即时战斗', desc: '每题即一回合，伤害实时结算' },&#10;        { title: '28 个被动技能', desc: '攻击 / 法术 / 防御 / 续航四大树' },&#10;        { title: '升级三选一', desc: '每层奖励节点抽技能，策略组合' },&#10;        { title: '主动技 · 虚空魔弹', desc: '消耗蓝量穿透全场，冷却 8 拍' },&#10;      ].map((c, i) =&gt; (&#10;        &lt;Box key={i} style={{&#10;          background: '#131C33',&#10;          borderRadius: 14,&#10;          padding: 16,&#10;          flexDirection: 'column',&#10;          gap: 4,&#10;          borderLeft: '3px solid #D4AF37',&#10;        }}&gt;&#10;          &lt;Text style={{ fontSize: 17, fontWeight: 'bold', color: '#F8FAFC' }}&gt;{c.title}&lt;/Text&gt;&#10;          &lt;Text style={{ fontSize: 14, color: '#7A89A3' }}&gt;{c.desc}&lt;/Text&gt;&#10;        &lt;/Box&gt;&#10;      ))}&#10;    &lt;/Box&gt;&#10;    &lt;Box style={{&#10;      flex: 1,&#10;      background: '#131C33',&#10;      borderRadius: 20,&#10;      padding: 10,&#10;      border: '1px solid rgba(37,99,235,0.2)',&#10;      justifyContent: 'center',&#10;      alignItems: 'center',&#10;    }}&gt;&#10;      &lt;Image&#10;        src=&quot;assets/07_roguelike.png&quot;&#10;        style={{ width: '100%', height: '100%', objectFit: 'contain', borderRadius: 12 }}&#10;      /&gt;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1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冒险模式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Roguelike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即时战斗让刷题更上瘾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09600" y="1266825"/>
            <a:ext cx="34290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把答题正确率转化为战斗伤害，答错则扣血；爬塔、</a:t>
            </a:r>
            <a:r>
              <a:rPr lang="en-US" sz="1425">
                <a:solidFill>
                  <a:srgbClr val="C7D0E0"/>
                </a:solidFill>
                <a:latin typeface="Microsoft YaHei"/>
                <a:ea typeface="Microsoft YaHei"/>
              </a:rPr>
              <a:t>Boss</a:t>
            </a: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、奖励节点、被动技能树让备考像游戏一样有反馈。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38175" y="2486025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38175" y="2486025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790575" y="2638425"/>
            <a:ext cx="309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即时战斗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90575" y="28765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每题即一回合，伤害实时结算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38175" y="3362325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38175" y="3362325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90575" y="3514725"/>
            <a:ext cx="309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>28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个被动技能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90575" y="37528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攻击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法术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防御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续航四大树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638175" y="4238625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47" name=""/>
          <p:cNvSpPr/>
          <p:nvPr/>
        </p:nvSpPr>
        <p:spPr>
          <a:xfrm rot="0" flipH="0" flipV="0">
            <a:off x="638175" y="4238625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90575" y="4391025"/>
            <a:ext cx="309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升级三选一</a:t>
            </a:r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790575" y="46291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每层奖励节点抽技能，策略组合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38175" y="5114925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38175" y="5114925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90575" y="5267325"/>
            <a:ext cx="3095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主动技</a:t>
            </a: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> ·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虚空魔弹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790575" y="55054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消耗蓝量穿透全场，冷却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8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拍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4305300" y="1000125"/>
            <a:ext cx="7277100" cy="5086350"/>
          </a:xfrm>
          <a:prstGeom prst="roundRect">
            <a:avLst>
              <a:gd name="adj" fmla="val 374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5" name=""/>
          <p:cNvPicPr>
            <a:picLocks noChangeAspect="1"/>
          </p:cNvPicPr>
          <p:nvPr/>
        </p:nvPicPr>
        <p:blipFill>
          <a:blip r:embed="rId1"/>
          <a:srcRect l="4766" t="0" r="4766" b="0"/>
          <a:stretch>
            <a:fillRect/>
          </a:stretch>
        </p:blipFill>
        <p:spPr>
          <a:xfrm rot="0" flipH="0" flipV="0">
            <a:off x="4400550" y="1095375"/>
            <a:ext cx="7086600" cy="4895850"/>
          </a:xfrm>
          <a:prstGeom prst="roundRect">
            <a:avLst>
              <a:gd name="adj" fmla="val 2335"/>
            </a:avLst>
          </a:prstGeom>
          <a:ln/>
        </p:spPr>
      </p:pic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1182350" y="63150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11 / 18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58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面试练习 · 剑桥数学面试真题演练&#10;  &lt;/Text&gt;&#10;  &lt;Box style={{&#10;    flexDirection: 'row',&#10;    gap: 28,&#10;    flex: 1,&#10;    alignItems: 'stretch',&#10;  }}&gt;&#10;    &lt;Box style={{&#10;      flex: 1,&#10;      background: '#131C33',&#10;      borderRadius: 20,&#10;      padding: 10,&#10;      border: '1px solid rgba(37,99,235,0.2)',&#10;      justifyContent: 'center',&#10;      alignItems: 'center',&#10;    }}&gt;&#10;      &lt;Image&#10;        src=&quot;assets/08_interview.png&quot;&#10;        style={{ width: '100%', height: '100%', objectFit: 'contain', borderRadius: 12 }}&#10;      /&gt;&#10;    &lt;/Box&gt;&#10;    &lt;Box style={{&#10;      width: 360,&#10;      flexDirection: 'column',&#10;      justifyContent: 'center',&#10;      gap: 20,&#10;    }}&gt;&#10;      &lt;Text style={{ fontSize: 19, color: '#C7D0E0', lineHeight: 1.6 }}&gt;&#10;        针对 Cambridge Mathematics / Maths &amp; CS / Natural Sciences 等面试场景，提供 STEP 风格的证明题与逐题引导。&#10;      &lt;/Text&gt;&#10;      {[&#10;        { title: '真题套卷', desc: 'Number Theory / Combinatorics 等主题' },&#10;        { title: '面试评分维度', desc: 'What the interviewer looks for' },&#10;        { title: '折叠详解', desc: 'Detailed solution 引导式解析' },&#10;      ].map((c, i) =&gt; (&#10;        &lt;Box key={i} style={{&#10;          background: '#131C33',&#10;          borderRadius: 14,&#10;          padding: 18,&#10;          flexDirection: 'row',&#10;          alignItems: 'center',&#10;          gap: 12,&#10;          borderLeft: '3px solid #2563EB',&#10;        }}&gt;&#10;          &lt;FAIcon name='check-circle' style={{ fill: '#2563EB', width: 22, height: 22 }} /&gt;&#10;          &lt;Box&gt;&#10;            &lt;Text style={{ fontSize: 17, fontWeight: 'bold', color: '#F8FAFC' }}&gt;{c.title}&lt;/Text&gt;&#10;            &lt;Text style={{ fontSize: 14, color: '#7A89A3' }}&gt;{c.desc}&lt;/Text&gt;&#10;          &lt;/Box&gt;&#10;        &lt;/Box&gt;&#10;      ))}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2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面试练习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剑桥数学面试真题演练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09600" y="1000125"/>
            <a:ext cx="7277100" cy="5086350"/>
          </a:xfrm>
          <a:prstGeom prst="roundRect">
            <a:avLst>
              <a:gd name="adj" fmla="val 374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62" name=""/>
          <p:cNvPicPr>
            <a:picLocks noChangeAspect="1"/>
          </p:cNvPicPr>
          <p:nvPr/>
        </p:nvPicPr>
        <p:blipFill>
          <a:blip r:embed="rId1"/>
          <a:srcRect l="4766" t="0" r="4766" b="0"/>
          <a:stretch>
            <a:fillRect/>
          </a:stretch>
        </p:blipFill>
        <p:spPr>
          <a:xfrm rot="0" flipH="0" flipV="0">
            <a:off x="704850" y="1095375"/>
            <a:ext cx="7086600" cy="4895850"/>
          </a:xfrm>
          <a:prstGeom prst="roundRect">
            <a:avLst>
              <a:gd name="adj" fmla="val 2335"/>
            </a:avLst>
          </a:prstGeom>
          <a:ln/>
        </p:spPr>
      </p:pic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153400" y="1676400"/>
            <a:ext cx="3429000" cy="1047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针对</a:t>
            </a:r>
            <a:r>
              <a:rPr lang="en-US" sz="1425">
                <a:solidFill>
                  <a:srgbClr val="C7D0E0"/>
                </a:solidFill>
                <a:latin typeface="Microsoft YaHei"/>
                <a:ea typeface="Microsoft YaHei"/>
              </a:rPr>
              <a:t> Cambridge Mathematics / Maths &amp; CS / Natural Sciences </a:t>
            </a: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等面试场景，提供</a:t>
            </a:r>
            <a:r>
              <a:rPr lang="en-US" sz="1425">
                <a:solidFill>
                  <a:srgbClr val="C7D0E0"/>
                </a:solidFill>
                <a:latin typeface="Microsoft YaHei"/>
                <a:ea typeface="Microsoft YaHei"/>
              </a:rPr>
              <a:t> STEP </a:t>
            </a: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风格的证明题与逐题引导。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8181975" y="2914650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65" name=""/>
          <p:cNvSpPr/>
          <p:nvPr/>
        </p:nvSpPr>
        <p:spPr>
          <a:xfrm rot="0" flipH="0" flipV="0">
            <a:off x="8181975" y="2914650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53425" y="3162300"/>
            <a:ext cx="209550" cy="209550"/>
          </a:xfrm>
          <a:prstGeom prst="rect">
            <a:avLst/>
          </a:prstGeom>
          <a:ln/>
        </p:spPr>
      </p:pic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8677275" y="3086100"/>
            <a:ext cx="2333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真题套卷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8677275" y="3286125"/>
            <a:ext cx="2333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Number Theory / Combinatorics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等主题</a:t>
            </a:r>
            <a:endParaRPr/>
          </a:p>
        </p:txBody>
      </p:sp>
      <p:sp>
        <p:nvSpPr>
          <p:cNvPr id="69" name=""/>
          <p:cNvSpPr/>
          <p:nvPr/>
        </p:nvSpPr>
        <p:spPr>
          <a:xfrm rot="0" flipH="0" flipV="0">
            <a:off x="8181975" y="3810000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8181975" y="3810000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7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53425" y="4057650"/>
            <a:ext cx="209550" cy="209550"/>
          </a:xfrm>
          <a:prstGeom prst="rect">
            <a:avLst/>
          </a:prstGeom>
          <a:ln/>
        </p:spPr>
      </p:pic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677275" y="3981450"/>
            <a:ext cx="176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面试评分维度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677275" y="4181475"/>
            <a:ext cx="17621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What the interviewer looks for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8181975" y="4705350"/>
            <a:ext cx="3429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8181975" y="4705350"/>
            <a:ext cx="3429000" cy="704850"/>
          </a:xfrm>
          <a:custGeom>
            <a:pathLst>
              <a:path w="36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353425" y="4953000"/>
            <a:ext cx="209550" cy="209550"/>
          </a:xfrm>
          <a:prstGeom prst="rect">
            <a:avLst/>
          </a:prstGeom>
          <a:ln/>
        </p:spPr>
      </p:pic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677275" y="4876800"/>
            <a:ext cx="169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折叠详解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8677275" y="5076825"/>
            <a:ext cx="169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Detailed solution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引导式解析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12 / 18</a:t>
            </a:r>
            <a:endParaRPr/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81" name="" descr="&lt;Slide style={{&#10;  width: '1280px',&#10;  height: '720px',&#10;  background: '#0A0F1E',&#10;  padding: '40px 64px',&#10;  flexDirection: 'column',&#10;  justifyContent: 'center',&#10;  position: 'relative',&#10;  overflow: 'hidden',&#10;}}&gt;&#10;  &lt;Box style={{&#10;    position: 'absolute',&#10;    left: -120,&#10;    bottom: -80,&#10;    width: 520,&#10;    height: 520,&#10;    background: 'radial-gradient(circle at 50% 50%, rgba(212,175,55,0.14), transparent 60%)',&#10;    borderRadius: '50%',&#10;  }} /&gt;&#10;  &lt;Box style={{ position: 'relative', zIndex: 2, flexDirection: 'column' }}&gt;&#10;    &lt;Text style={{&#10;      fontSize: 28,&#10;      fontWeight: 600,&#10;      color: '#D4AF37',&#10;      marginBottom: 16,&#10;      letterSpacing: 2,&#10;    }}&gt;&#10;      02&#10;    &lt;/Text&gt;&#10;    &lt;Text style={{&#10;      fontSize: 64,&#10;      fontWeight: 'bold',&#10;      color: '#F8FAFC',&#10;      marginBottom: 24,&#10;      fontFamily: '&quot;PingFang SC&quot;,&quot;Microsoft YaHei&quot;,sans-serif',&#10;    }}&gt;&#10;      教师端&#10;    &lt;/Text&gt;&#10;    &lt;Box style={{&#10;      width: 80,&#10;      height: 4,&#10;      background: 'linear-gradient(90deg, #D4AF37, #F3D27A)',&#10;      borderRadius: 2,&#10;      marginBottom: 32,&#10;    }} /&gt;&#10;    &lt;Text style={{&#10;      fontSize: 24,&#10;      color: '#C7D0E0',&#10;      lineHeight: 1.6,&#10;    }}&gt;&#10;      把老师从重复劳动中解放出来&#10;    &lt;/Text&gt;&#10;  &lt;/Box&gt;&#10;  &lt;Box style={{&#10;    position: 'absolute',&#10;    bottom: 28,&#10;    left: 64,&#10;    flexDirection: 'row',&#10;    alignItems: 'center',&#10;    gap: 12,&#10;  }}&gt;&#10;    &lt;Box style={{ width: 8, height: 8, background: '#D4AF37', borderRadius: '50%' }} /&gt;&#10;    &lt;Text style={{ fontSize: 14, color: '#7A89A3' }}&gt;金瑞升学 · 金鹰系统&lt;/Text&gt;&#10;  &lt;/Box&gt;&#10;  &lt;Text style={{&#10;    position: 'absolute',&#10;    bottom: 28,&#10;    right: 64,&#10;    fontSize: 14,&#10;    color: '#7A89A3',&#10;  }}&gt;13 / 18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-1143000" y="2667000"/>
            <a:ext cx="4953000" cy="4953000"/>
          </a:xfrm>
          <a:custGeom>
            <a:pathLst>
              <a:path w="520" h="520">
                <a:moveTo>
                  <a:pt x="267" y="0"/>
                </a:moveTo>
                <a:lnTo>
                  <a:pt x="273" y="0"/>
                </a:lnTo>
                <a:lnTo>
                  <a:pt x="280" y="1"/>
                </a:lnTo>
                <a:lnTo>
                  <a:pt x="287" y="1"/>
                </a:lnTo>
                <a:lnTo>
                  <a:pt x="293" y="2"/>
                </a:lnTo>
                <a:lnTo>
                  <a:pt x="300" y="3"/>
                </a:lnTo>
                <a:lnTo>
                  <a:pt x="306" y="4"/>
                </a:lnTo>
                <a:lnTo>
                  <a:pt x="312" y="5"/>
                </a:lnTo>
                <a:lnTo>
                  <a:pt x="319" y="7"/>
                </a:lnTo>
                <a:lnTo>
                  <a:pt x="325" y="8"/>
                </a:lnTo>
                <a:lnTo>
                  <a:pt x="331" y="10"/>
                </a:lnTo>
                <a:lnTo>
                  <a:pt x="337" y="12"/>
                </a:lnTo>
                <a:lnTo>
                  <a:pt x="343" y="14"/>
                </a:lnTo>
                <a:lnTo>
                  <a:pt x="349" y="16"/>
                </a:lnTo>
                <a:lnTo>
                  <a:pt x="355" y="18"/>
                </a:lnTo>
                <a:lnTo>
                  <a:pt x="361" y="20"/>
                </a:lnTo>
                <a:lnTo>
                  <a:pt x="367" y="23"/>
                </a:lnTo>
                <a:lnTo>
                  <a:pt x="373" y="26"/>
                </a:lnTo>
                <a:lnTo>
                  <a:pt x="378" y="28"/>
                </a:lnTo>
                <a:lnTo>
                  <a:pt x="384" y="31"/>
                </a:lnTo>
                <a:lnTo>
                  <a:pt x="389" y="34"/>
                </a:lnTo>
                <a:lnTo>
                  <a:pt x="395" y="38"/>
                </a:lnTo>
                <a:lnTo>
                  <a:pt x="400" y="41"/>
                </a:lnTo>
                <a:lnTo>
                  <a:pt x="405" y="44"/>
                </a:lnTo>
                <a:lnTo>
                  <a:pt x="410" y="48"/>
                </a:lnTo>
                <a:lnTo>
                  <a:pt x="416" y="52"/>
                </a:lnTo>
                <a:lnTo>
                  <a:pt x="420" y="55"/>
                </a:lnTo>
                <a:lnTo>
                  <a:pt x="425" y="59"/>
                </a:lnTo>
                <a:lnTo>
                  <a:pt x="430" y="63"/>
                </a:lnTo>
                <a:lnTo>
                  <a:pt x="435" y="68"/>
                </a:lnTo>
                <a:lnTo>
                  <a:pt x="439" y="72"/>
                </a:lnTo>
                <a:lnTo>
                  <a:pt x="444" y="76"/>
                </a:lnTo>
                <a:lnTo>
                  <a:pt x="448" y="81"/>
                </a:lnTo>
                <a:lnTo>
                  <a:pt x="452" y="85"/>
                </a:lnTo>
                <a:lnTo>
                  <a:pt x="457" y="90"/>
                </a:lnTo>
                <a:lnTo>
                  <a:pt x="461" y="95"/>
                </a:lnTo>
                <a:lnTo>
                  <a:pt x="465" y="100"/>
                </a:lnTo>
                <a:lnTo>
                  <a:pt x="468" y="104"/>
                </a:lnTo>
                <a:lnTo>
                  <a:pt x="472" y="110"/>
                </a:lnTo>
                <a:lnTo>
                  <a:pt x="476" y="115"/>
                </a:lnTo>
                <a:lnTo>
                  <a:pt x="479" y="120"/>
                </a:lnTo>
                <a:lnTo>
                  <a:pt x="482" y="125"/>
                </a:lnTo>
                <a:lnTo>
                  <a:pt x="486" y="131"/>
                </a:lnTo>
                <a:lnTo>
                  <a:pt x="489" y="136"/>
                </a:lnTo>
                <a:lnTo>
                  <a:pt x="492" y="142"/>
                </a:lnTo>
                <a:lnTo>
                  <a:pt x="494" y="147"/>
                </a:lnTo>
                <a:lnTo>
                  <a:pt x="497" y="153"/>
                </a:lnTo>
                <a:lnTo>
                  <a:pt x="500" y="159"/>
                </a:lnTo>
                <a:lnTo>
                  <a:pt x="502" y="165"/>
                </a:lnTo>
                <a:lnTo>
                  <a:pt x="504" y="171"/>
                </a:lnTo>
                <a:lnTo>
                  <a:pt x="506" y="177"/>
                </a:lnTo>
                <a:lnTo>
                  <a:pt x="508" y="183"/>
                </a:lnTo>
                <a:lnTo>
                  <a:pt x="510" y="189"/>
                </a:lnTo>
                <a:lnTo>
                  <a:pt x="512" y="195"/>
                </a:lnTo>
                <a:lnTo>
                  <a:pt x="513" y="201"/>
                </a:lnTo>
                <a:lnTo>
                  <a:pt x="515" y="208"/>
                </a:lnTo>
                <a:lnTo>
                  <a:pt x="516" y="214"/>
                </a:lnTo>
                <a:lnTo>
                  <a:pt x="517" y="220"/>
                </a:lnTo>
                <a:lnTo>
                  <a:pt x="518" y="227"/>
                </a:lnTo>
                <a:lnTo>
                  <a:pt x="519" y="233"/>
                </a:lnTo>
                <a:lnTo>
                  <a:pt x="519" y="240"/>
                </a:lnTo>
                <a:lnTo>
                  <a:pt x="520" y="247"/>
                </a:lnTo>
                <a:lnTo>
                  <a:pt x="520" y="253"/>
                </a:lnTo>
                <a:lnTo>
                  <a:pt x="520" y="260"/>
                </a:lnTo>
                <a:lnTo>
                  <a:pt x="520" y="267"/>
                </a:lnTo>
                <a:lnTo>
                  <a:pt x="520" y="273"/>
                </a:lnTo>
                <a:lnTo>
                  <a:pt x="519" y="280"/>
                </a:lnTo>
                <a:lnTo>
                  <a:pt x="519" y="287"/>
                </a:lnTo>
                <a:lnTo>
                  <a:pt x="518" y="293"/>
                </a:lnTo>
                <a:lnTo>
                  <a:pt x="517" y="300"/>
                </a:lnTo>
                <a:lnTo>
                  <a:pt x="516" y="306"/>
                </a:lnTo>
                <a:lnTo>
                  <a:pt x="515" y="312"/>
                </a:lnTo>
                <a:lnTo>
                  <a:pt x="513" y="319"/>
                </a:lnTo>
                <a:lnTo>
                  <a:pt x="512" y="325"/>
                </a:lnTo>
                <a:lnTo>
                  <a:pt x="510" y="331"/>
                </a:lnTo>
                <a:lnTo>
                  <a:pt x="508" y="337"/>
                </a:lnTo>
                <a:lnTo>
                  <a:pt x="506" y="343"/>
                </a:lnTo>
                <a:lnTo>
                  <a:pt x="504" y="349"/>
                </a:lnTo>
                <a:lnTo>
                  <a:pt x="502" y="355"/>
                </a:lnTo>
                <a:lnTo>
                  <a:pt x="500" y="361"/>
                </a:lnTo>
                <a:lnTo>
                  <a:pt x="497" y="367"/>
                </a:lnTo>
                <a:lnTo>
                  <a:pt x="494" y="373"/>
                </a:lnTo>
                <a:lnTo>
                  <a:pt x="492" y="378"/>
                </a:lnTo>
                <a:lnTo>
                  <a:pt x="489" y="384"/>
                </a:lnTo>
                <a:lnTo>
                  <a:pt x="486" y="389"/>
                </a:lnTo>
                <a:lnTo>
                  <a:pt x="482" y="395"/>
                </a:lnTo>
                <a:lnTo>
                  <a:pt x="479" y="400"/>
                </a:lnTo>
                <a:lnTo>
                  <a:pt x="476" y="405"/>
                </a:lnTo>
                <a:lnTo>
                  <a:pt x="472" y="410"/>
                </a:lnTo>
                <a:lnTo>
                  <a:pt x="468" y="416"/>
                </a:lnTo>
                <a:lnTo>
                  <a:pt x="465" y="420"/>
                </a:lnTo>
                <a:lnTo>
                  <a:pt x="461" y="425"/>
                </a:lnTo>
                <a:lnTo>
                  <a:pt x="457" y="430"/>
                </a:lnTo>
                <a:lnTo>
                  <a:pt x="452" y="435"/>
                </a:lnTo>
                <a:lnTo>
                  <a:pt x="448" y="439"/>
                </a:lnTo>
                <a:lnTo>
                  <a:pt x="448" y="440"/>
                </a:lnTo>
                <a:lnTo>
                  <a:pt x="120" y="440"/>
                </a:lnTo>
                <a:lnTo>
                  <a:pt x="120" y="41"/>
                </a:lnTo>
                <a:lnTo>
                  <a:pt x="125" y="38"/>
                </a:lnTo>
                <a:lnTo>
                  <a:pt x="131" y="34"/>
                </a:lnTo>
                <a:lnTo>
                  <a:pt x="136" y="31"/>
                </a:lnTo>
                <a:lnTo>
                  <a:pt x="142" y="28"/>
                </a:lnTo>
                <a:lnTo>
                  <a:pt x="147" y="26"/>
                </a:lnTo>
                <a:lnTo>
                  <a:pt x="153" y="23"/>
                </a:lnTo>
                <a:lnTo>
                  <a:pt x="159" y="20"/>
                </a:lnTo>
                <a:lnTo>
                  <a:pt x="165" y="18"/>
                </a:lnTo>
                <a:lnTo>
                  <a:pt x="171" y="16"/>
                </a:lnTo>
                <a:lnTo>
                  <a:pt x="177" y="14"/>
                </a:lnTo>
                <a:lnTo>
                  <a:pt x="183" y="12"/>
                </a:lnTo>
                <a:lnTo>
                  <a:pt x="189" y="10"/>
                </a:lnTo>
                <a:lnTo>
                  <a:pt x="195" y="8"/>
                </a:lnTo>
                <a:lnTo>
                  <a:pt x="201" y="7"/>
                </a:lnTo>
                <a:lnTo>
                  <a:pt x="208" y="5"/>
                </a:lnTo>
                <a:lnTo>
                  <a:pt x="214" y="4"/>
                </a:lnTo>
                <a:lnTo>
                  <a:pt x="220" y="3"/>
                </a:lnTo>
                <a:lnTo>
                  <a:pt x="227" y="2"/>
                </a:lnTo>
                <a:lnTo>
                  <a:pt x="233" y="1"/>
                </a:lnTo>
                <a:lnTo>
                  <a:pt x="240" y="1"/>
                </a:lnTo>
                <a:lnTo>
                  <a:pt x="247" y="0"/>
                </a:lnTo>
                <a:lnTo>
                  <a:pt x="253" y="0"/>
                </a:lnTo>
                <a:lnTo>
                  <a:pt x="260" y="0"/>
                </a:lnTo>
                <a:close/>
              </a:path>
            </a:pathLst>
          </a:custGeom>
          <a:gradFill>
            <a:gsLst>
              <a:gs pos="0">
                <a:srgbClr val="D4AF37">
                  <a:alpha val="14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84" name=""/>
          <p:cNvSpPr/>
          <p:nvPr/>
        </p:nvSpPr>
        <p:spPr>
          <a:xfrm rot="0" flipH="0" flipV="0">
            <a:off x="609600" y="6477000"/>
            <a:ext cx="76200" cy="76200"/>
          </a:xfrm>
          <a:custGeom>
            <a:pathLst>
              <a:path w="8" h="8">
                <a:moveTo>
                  <a:pt x="4" y="0"/>
                </a:moveTo>
                <a:lnTo>
                  <a:pt x="4" y="0"/>
                </a:lnTo>
                <a:cubicBezTo>
                  <a:pt x="6" y="0"/>
                  <a:pt x="8" y="2"/>
                  <a:pt x="8" y="4"/>
                </a:cubicBezTo>
                <a:lnTo>
                  <a:pt x="8" y="4"/>
                </a:lnTo>
                <a:cubicBezTo>
                  <a:pt x="8" y="6"/>
                  <a:pt x="6" y="8"/>
                  <a:pt x="4" y="8"/>
                </a:cubicBezTo>
                <a:lnTo>
                  <a:pt x="4" y="8"/>
                </a:lnTo>
                <a:cubicBezTo>
                  <a:pt x="2" y="8"/>
                  <a:pt x="0" y="6"/>
                  <a:pt x="0" y="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00100" y="64293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117282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13 / 18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09600" y="2314575"/>
            <a:ext cx="109728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 spc="150">
                <a:solidFill>
                  <a:srgbClr val="D4AF3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2790825"/>
            <a:ext cx="109728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800" b="1">
                <a:solidFill>
                  <a:srgbClr val="F8FAFC"/>
                </a:solidFill>
                <a:latin typeface="PingFang SC"/>
                <a:ea typeface="PingFang SC"/>
              </a:rPr>
              <a:t>教师端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09600" y="3752850"/>
            <a:ext cx="762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10972800" cy="4476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800">
                <a:solidFill>
                  <a:srgbClr val="C7D0E0"/>
                </a:solidFill>
                <a:latin typeface="Microsoft YaHei"/>
                <a:ea typeface="Microsoft YaHei"/>
              </a:rPr>
              <a:t>把老师从重复劳动中解放出来</a:t>
            </a:r>
            <a:endParaRPr/>
          </a:p>
        </p:txBody>
      </p:sp>
    </p:spTree>
  </p:cSld>
</p:sld>
</file>

<file path=ppt/slides/slide1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1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教师端 · 智能导入流水线&#10;  &lt;/Text&gt;&#10;  &lt;Box style={{&#10;    flexDirection: 'row',&#10;    gap: 32,&#10;    flex: 1,&#10;    alignItems: 'stretch',&#10;  }}&gt;&#10;    &lt;Box style={{&#10;      width: 420,&#10;      background: '#131C33',&#10;      borderRadius: 20,&#10;      padding: 32,&#10;      flexDirection: 'column',&#10;      justifyContent: 'center',&#10;      alignItems: 'center',&#10;      gap: 14,&#10;      border: '1px solid rgba(37,99,235,0.2)',&#10;    }}&gt;&#10;      {[&#10;        { icon: 'file', label: '上传 PDF', desc: '题目 + 可选答案双文件' },&#10;        { icon: 'eye', label: '视觉模型识别', desc: '题号、题干、选项、LaTeX 公式' },&#10;        { icon: 'link', label: '答案按题号匹配', desc: '防错位、防越界、映射为选项文本' },&#10;        { icon: 'tag', label: '自动知识点归类', desc: '命中知识点库，未命中留空待审' },&#10;        { icon: 'check-circle', label: '审核发布', desc: '缺答案禁止发布，铁律兜底' },&#10;      ].map((s, i) =&gt; (&#10;        &lt;Box key={i} style={{ flexDirection: 'column', alignItems: 'center', gap: 8 }}&gt;&#10;          &lt;Box style={{&#10;            width: 240,&#10;            height: 64,&#10;            background: 'linear-gradient(135deg, #1E3A8A 0%, #2563EB 100%)',&#10;            borderRadius: 12,&#10;            flexDirection: 'row',&#10;            alignItems: 'center',&#10;            gap: 14,&#10;            padding: '0 20px',&#10;          }}&gt;&#10;            &lt;FAIcon name={s.icon} style={{ fill: '#F8FAFC', width: 24, height: 24 }} /&gt;&#10;            &lt;Box&gt;&#10;              &lt;Text style={{ fontSize: 16, fontWeight: 'bold', color: '#F8FAFC' }}&gt;{s.label}&lt;/Text&gt;&#10;              &lt;Text style={{ fontSize: 12, color: 'rgba(248,250,252,0.75)' }}&gt;{s.desc}&lt;/Text&gt;&#10;            &lt;/Box&gt;&#10;          &lt;/Box&gt;&#10;          {i &lt; 4 &amp;&amp; (&#10;            &lt;Text style={{ fontSize: 20, color: '#D4AF37', fontWeight: 'bold' }}&gt;↓&lt;/Text&gt;&#10;          )}&#10;        &lt;/Box&gt;&#10;      ))}&#10;    &lt;/Box&gt;&#10;    &lt;Box style={{&#10;      flex: 1,&#10;      flexDirection: 'column',&#10;      justifyContent: 'center',&#10;      gap: 20,&#10;    }}&gt;&#10;      &lt;Text style={{ fontSize: 19, color: '#C7D0E0', lineHeight: 1.6 }}&gt;&#10;        教师只需上传 PDF，系统即可完成从识别到归类的完整预处理，并在审核页给出明确的缺答案/缺解析提醒。&#10;      &lt;/Text&gt;&#10;      {[&#10;        { title: '视觉模型识别', desc: '自动提取题干、选项、公式与题号' },&#10;        { title: '答案防错位', desc: '按题号匹配，越界字母自动清空' },&#10;        { title: 'AI 解析生成', desc: '自动为每道题生成英文逐步解析' },&#10;        { title: '发布铁律', desc: '缺答案题目禁止发布，保证练习质量' },&#10;      ].map((c, i) =&gt; (&#10;        &lt;Box key={i} style={{&#10;          background: '#131C33',&#10;          borderRadius: 14,&#10;          padding: 18,&#10;          flexDirection: 'row',&#10;          alignItems: 'center',&#10;          gap: 12,&#10;          borderLeft: '3px solid #D4AF37',&#10;        }}&gt;&#10;          &lt;FAIcon name='check-circle' style={{ fill: '#D4AF37', width: 22, height: 22 }} /&gt;&#10;          &lt;Box&gt;&#10;            &lt;Text style={{ fontSize: 17, fontWeight: 'bold', color: '#F8FAFC' }}&gt;{c.title}&lt;/Text&gt;&#10;            &lt;Text style={{ fontSize: 14, color: '#7A89A3' }}&gt;{c.desc}&lt;/Text&gt;&#10;          &lt;/Box&gt;&#10;        &lt;/Box&gt;&#10;      ))}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4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教师端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智能导入流水线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609600" y="1000125"/>
            <a:ext cx="4000500" cy="5410200"/>
          </a:xfrm>
          <a:prstGeom prst="roundRect">
            <a:avLst>
              <a:gd name="adj" fmla="val 4762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5" name=""/>
          <p:cNvSpPr/>
          <p:nvPr/>
        </p:nvSpPr>
        <p:spPr>
          <a:xfrm rot="0" flipH="0" flipV="0">
            <a:off x="1466850" y="1304925"/>
            <a:ext cx="22860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657350" y="1495425"/>
            <a:ext cx="228600" cy="228600"/>
          </a:xfrm>
          <a:prstGeom prst="rect">
            <a:avLst/>
          </a:prstGeom>
          <a:ln/>
        </p:spPr>
      </p:pic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2019300" y="1447800"/>
            <a:ext cx="11620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上传</a:t>
            </a:r>
            <a:r>
              <a:rPr lang="en-US" sz="1200" b="1">
                <a:solidFill>
                  <a:srgbClr val="F8FAFC"/>
                </a:solidFill>
                <a:latin typeface="Microsoft YaHei"/>
                <a:ea typeface="Microsoft YaHei"/>
              </a:rPr>
              <a:t> PDF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2019300" y="1638300"/>
            <a:ext cx="1162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题目</a:t>
            </a:r>
            <a:r>
              <a:rPr lang="en-US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可选答案双文件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2562225" y="19907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1466850" y="2352675"/>
            <a:ext cx="22860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1657350" y="2543175"/>
            <a:ext cx="228600" cy="228600"/>
          </a:xfrm>
          <a:prstGeom prst="rect">
            <a:avLst/>
          </a:prstGeom>
          <a:ln/>
        </p:spPr>
      </p:pic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2009775" y="2495550"/>
            <a:ext cx="1552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视觉模型识别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2009775" y="2686050"/>
            <a:ext cx="15525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题号、题干、选项、</a:t>
            </a:r>
            <a:r>
              <a:rPr lang="en-US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LaTeX </a:t>
            </a: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公式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2562225" y="30384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1466850" y="3400425"/>
            <a:ext cx="22860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1657350" y="3590925"/>
            <a:ext cx="228600" cy="228600"/>
          </a:xfrm>
          <a:prstGeom prst="rect">
            <a:avLst/>
          </a:prstGeom>
          <a:ln/>
        </p:spPr>
      </p:pic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2000250" y="3543300"/>
            <a:ext cx="1562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答案按题号匹配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2000250" y="3733800"/>
            <a:ext cx="1562100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防错位、防越界、映射为选项文本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2562225" y="408622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1466850" y="4448175"/>
            <a:ext cx="22860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1657350" y="4638675"/>
            <a:ext cx="228600" cy="228600"/>
          </a:xfrm>
          <a:prstGeom prst="rect">
            <a:avLst/>
          </a:prstGeom>
          <a:ln/>
        </p:spPr>
      </p:pic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2009775" y="4591050"/>
            <a:ext cx="1552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自动知识点归类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2009775" y="4781550"/>
            <a:ext cx="1552575" cy="276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命中知识点库，未命中留空待审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2562225" y="5133975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1466850" y="5495925"/>
            <a:ext cx="2286000" cy="609600"/>
          </a:xfrm>
          <a:prstGeom prst="roundRect">
            <a:avLst>
              <a:gd name="adj" fmla="val 1875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1657350" y="5686425"/>
            <a:ext cx="228600" cy="228600"/>
          </a:xfrm>
          <a:prstGeom prst="rect">
            <a:avLst/>
          </a:prstGeom>
          <a:ln/>
        </p:spPr>
      </p:pic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2019300" y="563880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8FAFC"/>
                </a:solidFill>
                <a:latin typeface="Microsoft YaHei"/>
                <a:ea typeface="Microsoft YaHei"/>
              </a:rPr>
              <a:t>审核发布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2019300" y="5829300"/>
            <a:ext cx="1371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8FAFC">
                    <a:alpha val="75000"/>
                  </a:srgbClr>
                </a:solidFill>
                <a:latin typeface="Microsoft YaHei"/>
                <a:ea typeface="Microsoft YaHei"/>
              </a:rPr>
              <a:t>缺答案禁止发布，铁律兜底</a:t>
            </a:r>
            <a:endParaRPr/>
          </a:p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4914900" y="1571625"/>
            <a:ext cx="66675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教师只需上传</a:t>
            </a:r>
            <a:r>
              <a:rPr lang="en-US" sz="1425">
                <a:solidFill>
                  <a:srgbClr val="C7D0E0"/>
                </a:solidFill>
                <a:latin typeface="Microsoft YaHei"/>
                <a:ea typeface="Microsoft YaHei"/>
              </a:rPr>
              <a:t> PDF</a:t>
            </a: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，系统即可完成从识别到归类的完整预处理，并在审核页给出明确的缺答案</a:t>
            </a:r>
            <a:r>
              <a:rPr lang="en-US" sz="1425">
                <a:solidFill>
                  <a:srgbClr val="C7D0E0"/>
                </a:solidFill>
                <a:latin typeface="Microsoft YaHei"/>
                <a:ea typeface="Microsoft YaHei"/>
              </a:rPr>
              <a:t>/</a:t>
            </a: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缺解析提醒。</a:t>
            </a:r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4943475" y="2457450"/>
            <a:ext cx="66675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4943475" y="2457450"/>
            <a:ext cx="6667500" cy="704850"/>
          </a:xfrm>
          <a:custGeom>
            <a:pathLst>
              <a:path w="70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12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5114925" y="2705100"/>
            <a:ext cx="209550" cy="209550"/>
          </a:xfrm>
          <a:prstGeom prst="rect">
            <a:avLst/>
          </a:prstGeom>
          <a:ln/>
        </p:spPr>
      </p:pic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5438775" y="26289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视觉模型识别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5438775" y="28289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自动提取题干、选项、公式与题号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943475" y="3352800"/>
            <a:ext cx="66675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4943475" y="3352800"/>
            <a:ext cx="6667500" cy="704850"/>
          </a:xfrm>
          <a:custGeom>
            <a:pathLst>
              <a:path w="70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1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5114925" y="3600450"/>
            <a:ext cx="209550" cy="209550"/>
          </a:xfrm>
          <a:prstGeom prst="rect">
            <a:avLst/>
          </a:prstGeom>
          <a:ln/>
        </p:spPr>
      </p:pic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438775" y="352425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答案防错位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5438775" y="372427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按题号匹配，越界字母自动清空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4943475" y="4248150"/>
            <a:ext cx="66675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31" name=""/>
          <p:cNvSpPr/>
          <p:nvPr/>
        </p:nvSpPr>
        <p:spPr>
          <a:xfrm rot="0" flipH="0" flipV="0">
            <a:off x="4943475" y="4248150"/>
            <a:ext cx="6667500" cy="704850"/>
          </a:xfrm>
          <a:custGeom>
            <a:pathLst>
              <a:path w="70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13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5114925" y="4495800"/>
            <a:ext cx="209550" cy="209550"/>
          </a:xfrm>
          <a:prstGeom prst="rect">
            <a:avLst/>
          </a:prstGeom>
          <a:ln/>
        </p:spPr>
      </p:pic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5438775" y="4419600"/>
            <a:ext cx="18669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>AI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解析生成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438775" y="4619625"/>
            <a:ext cx="1866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自动为每道题生成英文逐步解析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4943475" y="5143500"/>
            <a:ext cx="66675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36" name=""/>
          <p:cNvSpPr/>
          <p:nvPr/>
        </p:nvSpPr>
        <p:spPr>
          <a:xfrm rot="0" flipH="0" flipV="0">
            <a:off x="4943475" y="5143500"/>
            <a:ext cx="6667500" cy="704850"/>
          </a:xfrm>
          <a:custGeom>
            <a:pathLst>
              <a:path w="70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13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5114925" y="5391150"/>
            <a:ext cx="209550" cy="209550"/>
          </a:xfrm>
          <a:prstGeom prst="rect">
            <a:avLst/>
          </a:prstGeom>
          <a:ln/>
        </p:spPr>
      </p:pic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5438775" y="5314950"/>
            <a:ext cx="213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发布铁律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5438775" y="551497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缺答案题目禁止发布，保证练习质量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09600" y="663892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172825" y="663892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14 / 18</a:t>
            </a:r>
            <a:endParaRPr/>
          </a:p>
        </p:txBody>
      </p:sp>
    </p:spTree>
  </p:cSld>
</p:sld>
</file>

<file path=ppt/slides/slide1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2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教师端 · 试卷管理与灵活组卷&#10;  &lt;/Text&gt;&#10;  &lt;Box style={{&#10;    flexDirection: 'row',&#10;    gap: 32,&#10;    flex: 1,&#10;    alignItems: 'stretch',&#10;  }}&gt;&#10;    &lt;Box style={{&#10;      width: 440,&#10;      background: '#131C33',&#10;      borderRadius: 20,&#10;      padding: 32,&#10;      flexDirection: 'column',&#10;      justifyContent: 'center',&#10;      gap: 18,&#10;      border: '1px solid rgba(37,99,235,0.2)',&#10;    }}&gt;&#10;      &lt;Box style={{&#10;        height: 80,&#10;        background: 'linear-gradient(135deg, #1E3A8A 0%, #2563EB 100%)',&#10;        borderRadius: 12,&#10;        justifyContent: 'center',&#10;        alignItems: 'center',&#10;      }}&gt;&#10;        &lt;Text style={{ fontSize: 20, fontWeight: 'bold', color: '#F8FAFC' }}&gt;题库&lt;/Text&gt;&#10;      &lt;/Box&gt;&#10;      &lt;Box style={{ flexDirection: 'row', justifyContent: 'center' }}&gt;&#10;        &lt;Text style={{ fontSize: 24, color: '#D4AF37', fontWeight: 'bold' }}&gt;↓&lt;/Text&gt;&#10;      &lt;/Box&gt;&#10;      &lt;Box style={{ flexDirection: 'row', gap: 16 }}&gt;&#10;        &lt;Box style={{&#10;          flex: 1,&#10;          height: 90,&#10;          background: 'rgba(37,99,235,0.18)',&#10;          borderRadius: 12,&#10;          justifyContent: 'center',&#10;          alignItems: 'center',&#10;          border: '1px solid rgba(37,99,235,0.4)',&#10;        }}&gt;&#10;          &lt;Text style={{ fontSize: 17, fontWeight: 'bold', color: '#F8FAFC' }}&gt;原版真题&lt;/Text&gt;&#10;        &lt;/Box&gt;&#10;        &lt;Box style={{&#10;          flex: 1,&#10;          height: 90,&#10;          background: 'rgba(37,99,235,0.18)',&#10;          borderRadius: 12,&#10;          justifyContent: 'center',&#10;          alignItems: 'center',&#10;          border: '1px solid rgba(37,99,235,0.4)',&#10;        }}&gt;&#10;          &lt;Text style={{ fontSize: 17, fontWeight: 'bold', color: '#F8FAFC' }}&gt;教师自组卷&lt;/Text&gt;&#10;        &lt;/Box&gt;&#10;      &lt;/Box&gt;&#10;      &lt;Box style={{ flexDirection: 'row', justifyContent: 'center' }}&gt;&#10;        &lt;Text style={{ fontSize: 24, color: '#D4AF37', fontWeight: 'bold' }}&gt;↓&lt;/Text&gt;&#10;      &lt;/Box&gt;&#10;      &lt;Box style={{&#10;        height: 80,&#10;        background: 'linear-gradient(135deg, #D4AF37 0%, #F3D27A 100%)',&#10;        borderRadius: 12,&#10;        justifyContent: 'center',&#10;        alignItems: 'center',&#10;      }}&gt;&#10;        &lt;Text style={{ fontSize: 20, fontWeight: 'bold', color: '#0A0F1E' }}&gt;审题 → 发布&lt;/Text&gt;&#10;      &lt;/Box&gt;&#10;    &lt;/Box&gt;&#10;    &lt;Box style={{&#10;      flex: 1,&#10;      flexDirection: 'column',&#10;      justifyContent: 'center',&#10;      gap: 18,&#10;    }}&gt;&#10;      &lt;Text style={{ fontSize: 19, color: '#C7D0E0', lineHeight: 1.6 }}&gt;&#10;        支持原版真题库与教师自定义组卷双轨管理；可按学科、套题类型、知识点筛选，从题库直接选题入卷。&#10;      &lt;/Text&gt;&#10;      {[&#10;        { title: '原版 / 组卷双轨', desc: '区分 OFFICIAL 与 CUSTOM，清晰管理' },&#10;        { title: '多维筛选', desc: '学科 / 套题类型 / 名称排序 / 最新优先' },&#10;        { title: '从题库选题', desc: '按知识点筛选，完整题干预览后入卷' },&#10;        { title: '审题铁律', desc: '缺答案 / 缺解析题目禁止发布' },&#10;      ].map((c, i) =&gt; (&#10;        &lt;Box key={i} style={{&#10;          background: '#131C33',&#10;          borderRadius: 14,&#10;          padding: 18,&#10;          flexDirection: 'row',&#10;          alignItems: 'center',&#10;          gap: 12,&#10;          borderLeft: '3px solid #2563EB',&#10;        }}&gt;&#10;          &lt;FAIcon name='check-circle' style={{ fill: '#2563EB', width: 22, height: 22 }} /&gt;&#10;          &lt;Box&gt;&#10;            &lt;Text style={{ fontSize: 17, fontWeight: 'bold', color: '#F8FAFC' }}&gt;{c.title}&lt;/Text&gt;&#10;            &lt;Text style={{ fontSize: 14, color: '#7A89A3' }}&gt;{c.desc}&lt;/Text&gt;&#10;          &lt;/Box&gt;&#10;        &lt;/Box&gt;&#10;      ))}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5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教师端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试卷管理与灵活组卷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09600" y="1000125"/>
            <a:ext cx="4191000" cy="5086350"/>
          </a:xfrm>
          <a:prstGeom prst="roundRect">
            <a:avLst>
              <a:gd name="adj" fmla="val 454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6" name=""/>
          <p:cNvSpPr/>
          <p:nvPr/>
        </p:nvSpPr>
        <p:spPr>
          <a:xfrm rot="0" flipH="0" flipV="0">
            <a:off x="914400" y="1733550"/>
            <a:ext cx="3581400" cy="762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2514600" y="2000250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8FAFC"/>
                </a:solidFill>
                <a:latin typeface="Microsoft YaHei"/>
                <a:ea typeface="Microsoft YaHei"/>
              </a:rPr>
              <a:t>题库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2647950" y="26670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914400" y="3114675"/>
            <a:ext cx="1714500" cy="857250"/>
          </a:xfrm>
          <a:prstGeom prst="roundRect">
            <a:avLst>
              <a:gd name="adj" fmla="val 1333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447800" y="3448050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原版真题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2781300" y="3114675"/>
            <a:ext cx="1714500" cy="857250"/>
          </a:xfrm>
          <a:prstGeom prst="roundRect">
            <a:avLst>
              <a:gd name="adj" fmla="val 13333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3238500" y="3448050"/>
            <a:ext cx="8096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教师自组卷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2647950" y="414337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914400" y="4591050"/>
            <a:ext cx="3581400" cy="762000"/>
          </a:xfrm>
          <a:prstGeom prst="roundRect">
            <a:avLst>
              <a:gd name="adj" fmla="val 15000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2171700" y="4857750"/>
            <a:ext cx="1066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A0F1E"/>
                </a:solidFill>
                <a:latin typeface="Microsoft YaHei"/>
                <a:ea typeface="Microsoft YaHei"/>
              </a:rPr>
              <a:t>审题</a:t>
            </a:r>
            <a:r>
              <a:rPr lang="en-US" sz="1500" b="1">
                <a:solidFill>
                  <a:srgbClr val="0A0F1E"/>
                </a:solidFill>
                <a:latin typeface="Microsoft YaHei"/>
                <a:ea typeface="Microsoft YaHei"/>
              </a:rPr>
              <a:t> → </a:t>
            </a:r>
            <a:r>
              <a:rPr lang="zh-CN" sz="1500" b="1">
                <a:solidFill>
                  <a:srgbClr val="0A0F1E"/>
                </a:solidFill>
                <a:latin typeface="Microsoft YaHei"/>
                <a:ea typeface="Microsoft YaHei"/>
              </a:rPr>
              <a:t>发布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5105400" y="1447800"/>
            <a:ext cx="6477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支持原版真题库与教师自定义组卷双轨管理；可按学科、套题类型、知识点筛选，从题库直接选题入卷。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5133975" y="2314575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58" name=""/>
          <p:cNvSpPr/>
          <p:nvPr/>
        </p:nvSpPr>
        <p:spPr>
          <a:xfrm rot="0" flipH="0" flipV="0">
            <a:off x="5133975" y="2314575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05425" y="2562225"/>
            <a:ext cx="209550" cy="209550"/>
          </a:xfrm>
          <a:prstGeom prst="rect">
            <a:avLst/>
          </a:prstGeom>
          <a:ln/>
        </p:spPr>
      </p:pic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629275" y="2486025"/>
            <a:ext cx="2362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原版</a:t>
            </a: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组卷双轨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629275" y="2686050"/>
            <a:ext cx="2362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区分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OFFICIAL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与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CUSTOM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，清晰管理</a:t>
            </a:r>
            <a:endParaRPr/>
          </a:p>
        </p:txBody>
      </p:sp>
      <p:sp>
        <p:nvSpPr>
          <p:cNvPr id="162" name=""/>
          <p:cNvSpPr/>
          <p:nvPr/>
        </p:nvSpPr>
        <p:spPr>
          <a:xfrm rot="0" flipH="0" flipV="0">
            <a:off x="5133975" y="3190875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5133975" y="3190875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05425" y="3438525"/>
            <a:ext cx="209550" cy="209550"/>
          </a:xfrm>
          <a:prstGeom prst="rect">
            <a:avLst/>
          </a:prstGeom>
          <a:ln/>
        </p:spPr>
      </p:pic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5629275" y="3362325"/>
            <a:ext cx="2209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多维筛选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5629275" y="3562350"/>
            <a:ext cx="2209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学科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套题类型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名称排序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最新优先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5133975" y="4067175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68" name=""/>
          <p:cNvSpPr/>
          <p:nvPr/>
        </p:nvSpPr>
        <p:spPr>
          <a:xfrm rot="0" flipH="0" flipV="0">
            <a:off x="5133975" y="4067175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05425" y="4314825"/>
            <a:ext cx="209550" cy="209550"/>
          </a:xfrm>
          <a:prstGeom prst="rect">
            <a:avLst/>
          </a:prstGeom>
          <a:ln/>
        </p:spPr>
      </p:pic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629275" y="4238625"/>
            <a:ext cx="213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从题库选题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5629275" y="4438650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按知识点筛选，完整题干预览后入卷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5133975" y="4943475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5133975" y="4943475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2563EB"/>
          </a:solidFill>
          <a:ln/>
        </p:spPr>
        <p:txBody>
          <a:bodyPr/>
          <a:p/>
        </p:txBody>
      </p:sp>
      <p:pic>
        <p:nvPicPr>
          <p:cNvPr id="1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305425" y="5191125"/>
            <a:ext cx="209550" cy="209550"/>
          </a:xfrm>
          <a:prstGeom prst="rect">
            <a:avLst/>
          </a:prstGeom>
          <a:ln/>
        </p:spPr>
      </p:pic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5629275" y="5114925"/>
            <a:ext cx="1714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审题铁律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5629275" y="5314950"/>
            <a:ext cx="171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缺答案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缺解析题目禁止发布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15 / 18</a:t>
            </a:r>
            <a:endParaRPr/>
          </a:p>
        </p:txBody>
      </p:sp>
    </p:spTree>
  </p:cSld>
</p:sld>
</file>

<file path=ppt/slides/slide1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9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24,&#10;    fontFamily: '&quot;PingFang SC&quot;,&quot;Microsoft YaHei&quot;,sans-serif',&#10;  }}&gt;&#10;    教师端 · 学生管理与作业分发&#10;  &lt;/Text&gt;&#10;  &lt;Box style={{&#10;    flexDirection: 'row',&#10;    gap: 32,&#10;    flex: 1,&#10;    alignItems: 'stretch',&#10;  }}&gt;&#10;    &lt;Box style={{&#10;      width: 440,&#10;      background: '#131C33',&#10;      borderRadius: 20,&#10;      padding: 32,&#10;      flexDirection: 'column',&#10;      justifyContent: 'center',&#10;      alignItems: 'center',&#10;      gap: 14,&#10;      border: '1px solid rgba(37,99,235,0.2)',&#10;    }}&gt;&#10;      &lt;Box style={{&#10;        width: 280,&#10;        height: 72,&#10;        background: 'linear-gradient(135deg, #1E3A8A 0%, #2563EB 100%)',&#10;        borderRadius: 12,&#10;        justifyContent: 'center',&#10;        alignItems: 'center',&#10;        gap: 12,&#10;        flexDirection: 'row',&#10;      }}&gt;&#10;        &lt;FAIcon name='users' style={{ fill: '#F8FAFC', width: 26, height: 26 }} /&gt;&#10;        &lt;Text style={{ fontSize: 18, fontWeight: 'bold', color: '#F8FAFC' }}&gt;学生名单&lt;/Text&gt;&#10;      &lt;/Box&gt;&#10;      &lt;Text style={{ fontSize: 24, color: '#D4AF37', fontWeight: 'bold' }}&gt;↓&lt;/Text&gt;&#10;      &lt;Box style={{&#10;        width: 280,&#10;        height: 72,&#10;        background: 'rgba(37,99,235,0.18)',&#10;        borderRadius: 12,&#10;        justifyContent: 'center',&#10;        alignItems: 'center',&#10;        border: '1px solid rgba(37,99,235,0.4)',&#10;      }}&gt;&#10;        &lt;Text style={{ fontSize: 18, fontWeight: 'bold', color: '#F8FAFC' }}&gt;作业 / 考试分发&lt;/Text&gt;&#10;      &lt;/Box&gt;&#10;      &lt;Text style={{ fontSize: 24, color: '#D4AF37', fontWeight: 'bold' }}&gt;↓&lt;/Text&gt;&#10;      &lt;Box style={{ flexDirection: 'row', gap: 16 }}&gt;&#10;        &lt;Box style={{&#10;          width: 132,&#10;          height: 90,&#10;          background: 'rgba(212,175,55,0.15)',&#10;          borderRadius: 12,&#10;          justifyContent: 'center',&#10;          alignItems: 'center',&#10;          border: '1px solid rgba(212,175,55,0.4)',&#10;        }}&gt;&#10;          &lt;Text style={{ fontSize: 15, fontWeight: 'bold', color: '#F8FAFC', textAlign: 'center' }}&gt;完成率&lt;br /&gt;统计&lt;/Text&gt;&#10;        &lt;/Box&gt;&#10;        &lt;Box style={{&#10;          width: 132,&#10;          height: 90,&#10;          background: 'rgba(212,175,55,0.15)',&#10;          borderRadius: 12,&#10;          justifyContent: 'center',&#10;          alignItems: 'center',&#10;          border: '1px solid rgba(212,175,55,0.4)',&#10;        }}&gt;&#10;          &lt;Text style={{ fontSize: 15, fontWeight: 'bold', color: '#F8FAFC', textAlign: 'center' }}&gt;DDL 自动&lt;br /&gt;过期&lt;/Text&gt;&#10;        &lt;/Box&gt;&#10;      &lt;/Box&gt;&#10;      &lt;Text style={{ fontSize: 24, color: '#D4AF37', fontWeight: 'bold' }}&gt;↓&lt;/Text&gt;&#10;      &lt;Box style={{&#10;        width: 280,&#10;        height: 72,&#10;        background: 'linear-gradient(135deg, #D4AF37 0%, #F3D27A 100%)',&#10;        borderRadius: 12,&#10;        justifyContent: 'center',&#10;        alignItems: 'center',&#10;      }}&gt;&#10;        &lt;Text style={{ fontSize: 18, fontWeight: 'bold', color: '#0A0F1E' }}&gt;学生个人空间同源数据&lt;/Text&gt;&#10;      &lt;/Box&gt;&#10;    &lt;/Box&gt;&#10;    &lt;Box style={{&#10;      flex: 1,&#10;      flexDirection: 'column',&#10;      justifyContent: 'center',&#10;      gap: 18,&#10;    }}&gt;&#10;      &lt;Text style={{ fontSize: 19, color: '#C7D0E0', lineHeight: 1.6 }}&gt;&#10;        教师可为指定学生分发试卷或语言练习，设定截止时间；学生端个人空间实时同步，教师端可查看完成率与学情表现。&#10;      &lt;/Text&gt;&#10;      {[&#10;        { title: '精准分发', desc: '按学生 / 班级选择分发对象' },&#10;        { title: 'DDL 管理', desc: '截止时间自动触发 EXPIRED 状态' },&#10;        { title: '完成统计', desc: '待完成 / 进行中 / 已提交一目了然' },&#10;        { title: '级联删除', desc: '删除学生同步清理作业、成绩、错题' },&#10;      ].map((c, i) =&gt; (&#10;        &lt;Box key={i} style={{&#10;          background: '#131C33',&#10;          borderRadius: 14,&#10;          padding: 18,&#10;          flexDirection: 'row',&#10;          alignItems: 'center',&#10;          gap: 12,&#10;          borderLeft: '3px solid #D4AF37',&#10;        }}&gt;&#10;          &lt;FAIcon name='check-circle' style={{ fill: '#D4AF37', width: 22, height: 22 }} /&gt;&#10;          &lt;Box&gt;&#10;            &lt;Text style={{ fontSize: 17, fontWeight: 'bold', color: '#F8FAFC' }}&gt;{c.title}&lt;/Text&gt;&#10;            &lt;Text style={{ fontSize: 14, color: '#7A89A3' }}&gt;{c.desc}&lt;/Text&gt;&#10;          &lt;/Box&gt;&#10;        &lt;/Box&gt;&#10;      ))}&#10;    &lt;/Box&gt;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6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教师端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学生管理与作业分发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09600" y="1000125"/>
            <a:ext cx="4191000" cy="5153025"/>
          </a:xfrm>
          <a:prstGeom prst="roundRect">
            <a:avLst>
              <a:gd name="adj" fmla="val 4545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3" name=""/>
          <p:cNvSpPr/>
          <p:nvPr/>
        </p:nvSpPr>
        <p:spPr>
          <a:xfrm rot="0" flipH="0" flipV="0">
            <a:off x="1371600" y="1304925"/>
            <a:ext cx="2667000" cy="685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8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2181225" y="1524000"/>
            <a:ext cx="247650" cy="247650"/>
          </a:xfrm>
          <a:prstGeom prst="rect">
            <a:avLst/>
          </a:prstGeom>
          <a:ln/>
        </p:spPr>
      </p:pic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2543175" y="154305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学生名单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2647950" y="212407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1371600" y="2533650"/>
            <a:ext cx="2667000" cy="685800"/>
          </a:xfrm>
          <a:prstGeom prst="roundRect">
            <a:avLst>
              <a:gd name="adj" fmla="val 16667"/>
            </a:avLst>
          </a:prstGeom>
          <a:solidFill>
            <a:srgbClr val="2563EB">
              <a:alpha val="18000"/>
            </a:srgbClr>
          </a:solidFill>
          <a:ln w="12700">
            <a:solidFill>
              <a:srgbClr val="2563EB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2114550" y="2771775"/>
            <a:ext cx="118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作业</a:t>
            </a: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> /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考试分发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2647950" y="3352800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1371600" y="3762375"/>
            <a:ext cx="1257300" cy="857250"/>
          </a:xfrm>
          <a:prstGeom prst="roundRect">
            <a:avLst>
              <a:gd name="adj" fmla="val 13333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790700" y="4019550"/>
            <a:ext cx="428625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完成率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统计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2781300" y="3762375"/>
            <a:ext cx="1257300" cy="857250"/>
          </a:xfrm>
          <a:prstGeom prst="roundRect">
            <a:avLst>
              <a:gd name="adj" fmla="val 13333"/>
            </a:avLst>
          </a:prstGeom>
          <a:solidFill>
            <a:srgbClr val="D4AF37">
              <a:alpha val="15000"/>
            </a:srgbClr>
          </a:solidFill>
          <a:ln w="12700">
            <a:solidFill>
              <a:srgbClr val="D4AF37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3105150" y="4019550"/>
            <a:ext cx="619125" cy="3429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1125" b="1">
                <a:solidFill>
                  <a:srgbClr val="F8FAFC"/>
                </a:solidFill>
                <a:latin typeface="Microsoft YaHei"/>
                <a:ea typeface="Microsoft YaHei"/>
              </a:rPr>
              <a:t>DDL </a:t>
            </a: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自动</a:t>
            </a:r>
            <a:endParaRPr/>
          </a:p>
          <a:p>
            <a:pPr algn="ctr">
              <a:lnSpc>
                <a:spcPct val="100000"/>
              </a:lnSpc>
            </a:pPr>
            <a:r>
              <a:rPr lang="zh-CN" sz="1125" b="1">
                <a:solidFill>
                  <a:srgbClr val="F8FAFC"/>
                </a:solidFill>
                <a:latin typeface="Microsoft YaHei"/>
                <a:ea typeface="Microsoft YaHei"/>
              </a:rPr>
              <a:t>过期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2647950" y="4752975"/>
            <a:ext cx="114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 b="1">
                <a:solidFill>
                  <a:srgbClr val="D4AF37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1371600" y="5162550"/>
            <a:ext cx="2667000" cy="6858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847850" y="5400675"/>
            <a:ext cx="1714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A0F1E"/>
                </a:solidFill>
                <a:latin typeface="Microsoft YaHei"/>
                <a:ea typeface="Microsoft YaHei"/>
              </a:rPr>
              <a:t>学生个人空间同源数据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105400" y="1476375"/>
            <a:ext cx="647700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C7D0E0"/>
                </a:solidFill>
                <a:latin typeface="Microsoft YaHei"/>
                <a:ea typeface="Microsoft YaHei"/>
              </a:rPr>
              <a:t>教师可为指定学生分发试卷或语言练习，设定截止时间；学生端个人空间实时同步，教师端可查看完成率与学情表现。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5133975" y="2343150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199" name=""/>
          <p:cNvSpPr/>
          <p:nvPr/>
        </p:nvSpPr>
        <p:spPr>
          <a:xfrm rot="0" flipH="0" flipV="0">
            <a:off x="5133975" y="2343150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2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05425" y="2590800"/>
            <a:ext cx="209550" cy="209550"/>
          </a:xfrm>
          <a:prstGeom prst="rect">
            <a:avLst/>
          </a:prstGeom>
          <a:ln/>
        </p:spPr>
      </p:pic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5629275" y="25146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精准分发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5629275" y="271462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按学生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班级选择分发对象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5133975" y="3219450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5133975" y="3219450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05425" y="3467100"/>
            <a:ext cx="209550" cy="209550"/>
          </a:xfrm>
          <a:prstGeom prst="rect">
            <a:avLst/>
          </a:prstGeom>
          <a:ln/>
        </p:spPr>
      </p:pic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5629275" y="3390900"/>
            <a:ext cx="2000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8FAFC"/>
                </a:solidFill>
                <a:latin typeface="Microsoft YaHei"/>
                <a:ea typeface="Microsoft YaHei"/>
              </a:rPr>
              <a:t>DDL </a:t>
            </a: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管理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5629275" y="3590925"/>
            <a:ext cx="2000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截止时间自动触发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EXPIRED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5133975" y="4095750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09" name=""/>
          <p:cNvSpPr/>
          <p:nvPr/>
        </p:nvSpPr>
        <p:spPr>
          <a:xfrm rot="0" flipH="0" flipV="0">
            <a:off x="5133975" y="4095750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2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05425" y="4343400"/>
            <a:ext cx="209550" cy="209550"/>
          </a:xfrm>
          <a:prstGeom prst="rect">
            <a:avLst/>
          </a:prstGeom>
          <a:ln/>
        </p:spPr>
      </p:pic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5629275" y="4267200"/>
            <a:ext cx="1962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完成统计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5629275" y="4467225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待完成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进行中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已提交一目了然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5133975" y="4972050"/>
            <a:ext cx="6477000" cy="704850"/>
          </a:xfrm>
          <a:prstGeom prst="roundRect">
            <a:avLst>
              <a:gd name="adj" fmla="val 18919"/>
            </a:avLst>
          </a:prstGeom>
          <a:solidFill>
            <a:srgbClr val="131C33"/>
          </a:solidFill>
          <a:ln/>
        </p:spPr>
        <p:txBody>
          <a:bodyPr/>
          <a:p/>
        </p:txBody>
      </p:sp>
      <p:sp>
        <p:nvSpPr>
          <p:cNvPr id="214" name=""/>
          <p:cNvSpPr/>
          <p:nvPr/>
        </p:nvSpPr>
        <p:spPr>
          <a:xfrm rot="0" flipH="0" flipV="0">
            <a:off x="5133975" y="4972050"/>
            <a:ext cx="6477000" cy="704850"/>
          </a:xfrm>
          <a:custGeom>
            <a:pathLst>
              <a:path w="680" h="74">
                <a:moveTo>
                  <a:pt x="13" y="0"/>
                </a:moveTo>
                <a:cubicBezTo>
                  <a:pt x="7" y="1"/>
                  <a:pt x="3" y="5"/>
                  <a:pt x="3" y="11"/>
                </a:cubicBezTo>
                <a:lnTo>
                  <a:pt x="3" y="63"/>
                </a:lnTo>
                <a:cubicBezTo>
                  <a:pt x="3" y="68"/>
                  <a:pt x="6" y="72"/>
                  <a:pt x="11" y="74"/>
                </a:cubicBezTo>
                <a:cubicBezTo>
                  <a:pt x="4" y="72"/>
                  <a:pt x="0" y="66"/>
                  <a:pt x="0" y="60"/>
                </a:cubicBezTo>
                <a:lnTo>
                  <a:pt x="0" y="14"/>
                </a:lnTo>
                <a:cubicBezTo>
                  <a:pt x="0" y="6"/>
                  <a:pt x="6" y="0"/>
                  <a:pt x="13" y="0"/>
                </a:cubicBezTo>
                <a:close/>
              </a:path>
            </a:pathLst>
          </a:custGeom>
          <a:solidFill>
            <a:srgbClr val="D4AF37"/>
          </a:solidFill>
          <a:ln/>
        </p:spPr>
        <p:txBody>
          <a:bodyPr/>
          <a:p/>
        </p:txBody>
      </p:sp>
      <p:pic>
        <p:nvPicPr>
          <p:cNvPr id="2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5305425" y="5219700"/>
            <a:ext cx="209550" cy="209550"/>
          </a:xfrm>
          <a:prstGeom prst="rect">
            <a:avLst/>
          </a:prstGeom>
          <a:ln/>
        </p:spPr>
      </p:pic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629275" y="5143500"/>
            <a:ext cx="21336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8FAFC"/>
                </a:solidFill>
                <a:latin typeface="Microsoft YaHei"/>
                <a:ea typeface="Microsoft YaHei"/>
              </a:rPr>
              <a:t>级联删除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629275" y="5343525"/>
            <a:ext cx="2133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删除学生同步清理作业、成绩、错题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09600" y="6381750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11172825" y="63817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16 / 18</a:t>
            </a:r>
            <a:endParaRPr/>
          </a:p>
        </p:txBody>
      </p:sp>
    </p:spTree>
  </p:cSld>
</p:sld>
</file>

<file path=ppt/slides/slide1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20" name="" descr="&lt;Slide style={{&#10;  width: '1280px',&#10;  height: '720px',&#10;  background: '#0A0F1E',&#10;  padding: '40px 64px',&#10;  flexDirection: 'column',&#10;}}&gt;&#10;  &lt;Text style={{&#10;    fontSize: 34,&#10;    fontWeight: 'bold',&#10;    color: '#F8FAFC',&#10;    marginBottom: 36,&#10;    fontFamily: '&quot;PingFang SC&quot;,&quot;Microsoft YaHei&quot;,sans-serif',&#10;  }}&gt;&#10;    技术底座 · 五大核心能力&#10;  &lt;/Text&gt;&#10;  &lt;Box style={{&#10;    flexDirection: 'row',&#10;    flexWrap: 'wrap',&#10;    gap: 24,&#10;    flex: 1,&#10;    alignContent: 'center',&#10;  }}&gt;&#10;    {[&#10;      { icon: 'eye', title: '视觉识别导入', desc: '多模态模型抽取 PDF 题目、答案与公式，自动结构化入库' },&#10;      { icon: 'bolt', title: '即时判分引擎', desc: '答案与选项文本全等比对，提交后秒级反馈成绩与解析' },&#10;      { icon: 'robot', title: 'AI 解析生成', desc: '为每道题自动生成英文逐步解析，解放教师重复劳动' },&#10;      { icon: 'chart-line', title: '多维学情分析', desc: '按科目 / 难度 / 模式 / 知识点聚合，定位薄弱点' },&#10;      { icon: 'gamepad', title: 'Roguelike 战斗引擎', desc: '即时回合制战斗，被动技能树与伤害数值系统' },&#10;    ].map((c, i) =&gt; (&#10;      &lt;Box key={i} style={{&#10;        width: 360,&#10;        height: 180,&#10;        background: '#131C33',&#10;        borderRadius: 18,&#10;        padding: 24,&#10;        flexDirection: 'column',&#10;        gap: 12,&#10;        border: '1px solid rgba(37,99,235,0.2)',&#10;      }}&gt;&#10;        &lt;Box style={{ flexDirection: 'row', alignItems: 'center', gap: 14 }}&gt;&#10;          &lt;Box style={{&#10;            width: 48,&#10;            height: 48,&#10;            borderRadius: 12,&#10;            background: 'linear-gradient(135deg, #1E3A8A 0%, #2563EB 100%)',&#10;            justifyContent: 'center',&#10;            alignItems: 'center',&#10;          }}&gt;&#10;            &lt;FAIcon name={c.icon} style={{ fill: '#F8FAFC', width: 24, height: 24 }} /&gt;&#10;          &lt;/Box&gt;&#10;          &lt;Text style={{ fontSize: 22, fontWeight: 'bold', color: '#F8FAFC' }}&gt;{c.title}&lt;/Text&gt;&#10;        &lt;/Box&gt;&#10;        &lt;Text style={{ fontSize: 16, color: '#C7D0E0', lineHeight: 1.6 }}&gt;{c.desc}&lt;/Text&gt;&#10;      &lt;/Box&gt;&#10;    ))}&#10;  &lt;/Box&gt;&#10;  &lt;Box style={{&#10;    flexDirection: 'row',&#10;    justifyContent: 'space-between',&#10;    marginTop: 24,&#10;  }}&gt;&#10;    &lt;Text style={{ fontSize: 14, color: '#7A89A3' }}&gt;金瑞升学 · 金鹰系统&lt;/Text&gt;&#10;    &lt;Text style={{ fontSize: 14, color: '#7A89A3' }}&gt;17 / 18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381000"/>
            <a:ext cx="10972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技术底座</a:t>
            </a:r>
            <a:r>
              <a:rPr lang="en-US" sz="2550" b="1">
                <a:solidFill>
                  <a:srgbClr val="F8FAFC"/>
                </a:solidFill>
                <a:latin typeface="PingFang SC"/>
                <a:ea typeface="PingFang SC"/>
              </a:rPr>
              <a:t> · </a:t>
            </a:r>
            <a:r>
              <a:rPr lang="zh-CN" sz="2550" b="1">
                <a:solidFill>
                  <a:srgbClr val="F8FAFC"/>
                </a:solidFill>
                <a:latin typeface="PingFang SC"/>
                <a:ea typeface="PingFang SC"/>
              </a:rPr>
              <a:t>五大核心能力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1114425"/>
            <a:ext cx="3429000" cy="17145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"/>
          <p:cNvSpPr/>
          <p:nvPr/>
        </p:nvSpPr>
        <p:spPr>
          <a:xfrm rot="0" flipH="0" flipV="0">
            <a:off x="838200" y="1343025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52500" y="1457325"/>
            <a:ext cx="228600" cy="22860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428750" y="14478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视觉识别导入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38200" y="1914525"/>
            <a:ext cx="297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多模态模型抽取</a:t>
            </a:r>
            <a:r>
              <a:rPr lang="en-US" sz="1200">
                <a:solidFill>
                  <a:srgbClr val="C7D0E0"/>
                </a:solidFill>
                <a:latin typeface="Microsoft YaHei"/>
                <a:ea typeface="Microsoft YaHei"/>
              </a:rPr>
              <a:t> PDF </a:t>
            </a: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题目、答案与公式，自动结构化入库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4267200" y="1114425"/>
            <a:ext cx="3429000" cy="17145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4495800" y="1343025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610100" y="1457325"/>
            <a:ext cx="228600" cy="228600"/>
          </a:xfrm>
          <a:prstGeom prst="rect">
            <a:avLst/>
          </a:prstGeom>
          <a:ln/>
        </p:spPr>
      </p:pic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086350" y="14478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即时判分引擎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4495800" y="1914525"/>
            <a:ext cx="297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答案与选项文本全等比对，提交后秒级反馈成绩与解析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7924800" y="1114425"/>
            <a:ext cx="3429000" cy="17145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4" name=""/>
          <p:cNvSpPr/>
          <p:nvPr/>
        </p:nvSpPr>
        <p:spPr>
          <a:xfrm rot="0" flipH="0" flipV="0">
            <a:off x="8153400" y="1343025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267700" y="1457325"/>
            <a:ext cx="228600" cy="228600"/>
          </a:xfrm>
          <a:prstGeom prst="rect">
            <a:avLst/>
          </a:prstGeom>
          <a:ln/>
        </p:spPr>
      </p:pic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8743950" y="1447800"/>
            <a:ext cx="1114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FAFC"/>
                </a:solidFill>
                <a:latin typeface="Microsoft YaHei"/>
                <a:ea typeface="Microsoft YaHei"/>
              </a:rPr>
              <a:t>AI </a:t>
            </a: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解析生成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8153400" y="1914525"/>
            <a:ext cx="297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为每道题自动生成英文逐步解析，解放教师重复劳动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3714750"/>
            <a:ext cx="3429000" cy="17145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9" name=""/>
          <p:cNvSpPr/>
          <p:nvPr/>
        </p:nvSpPr>
        <p:spPr>
          <a:xfrm rot="0" flipH="0" flipV="0">
            <a:off x="838200" y="3943350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52500" y="4057650"/>
            <a:ext cx="228600" cy="228600"/>
          </a:xfrm>
          <a:prstGeom prst="rect">
            <a:avLst/>
          </a:prstGeom>
          <a:ln/>
        </p:spPr>
      </p:pic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1428750" y="4048125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多维学情分析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38200" y="4514850"/>
            <a:ext cx="297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按科目</a:t>
            </a:r>
            <a:r>
              <a:rPr lang="en-US" sz="1200">
                <a:solidFill>
                  <a:srgbClr val="C7D0E0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难度</a:t>
            </a:r>
            <a:r>
              <a:rPr lang="en-US" sz="1200">
                <a:solidFill>
                  <a:srgbClr val="C7D0E0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模式</a:t>
            </a:r>
            <a:r>
              <a:rPr lang="en-US" sz="1200">
                <a:solidFill>
                  <a:srgbClr val="C7D0E0"/>
                </a:solidFill>
                <a:latin typeface="Microsoft YaHei"/>
                <a:ea typeface="Microsoft YaHei"/>
              </a:rPr>
              <a:t> / </a:t>
            </a: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知识点聚合，定位薄弱点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4267200" y="3714750"/>
            <a:ext cx="3429000" cy="1714500"/>
          </a:xfrm>
          <a:prstGeom prst="roundRect">
            <a:avLst>
              <a:gd name="adj" fmla="val 10000"/>
            </a:avLst>
          </a:prstGeom>
          <a:solidFill>
            <a:srgbClr val="131C33"/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4495800" y="3943350"/>
            <a:ext cx="457200" cy="457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1E3A8A"/>
              </a:gs>
              <a:gs pos="100000">
                <a:srgbClr val="2563EB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2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610100" y="4057650"/>
            <a:ext cx="228600" cy="228600"/>
          </a:xfrm>
          <a:prstGeom prst="rect">
            <a:avLst/>
          </a:prstGeom>
          <a:ln/>
        </p:spPr>
      </p:pic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5086350" y="4048125"/>
            <a:ext cx="19050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8FAFC"/>
                </a:solidFill>
                <a:latin typeface="Microsoft YaHei"/>
                <a:ea typeface="Microsoft YaHei"/>
              </a:rPr>
              <a:t>Roguelike </a:t>
            </a:r>
            <a:r>
              <a:rPr lang="zh-CN" sz="1650" b="1">
                <a:solidFill>
                  <a:srgbClr val="F8FAFC"/>
                </a:solidFill>
                <a:latin typeface="Microsoft YaHei"/>
                <a:ea typeface="Microsoft YaHei"/>
              </a:rPr>
              <a:t>战斗引擎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495800" y="4514850"/>
            <a:ext cx="29718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C7D0E0"/>
                </a:solidFill>
                <a:latin typeface="Microsoft YaHei"/>
                <a:ea typeface="Microsoft YaHei"/>
              </a:rPr>
              <a:t>即时回合制战斗，被动技能树与伤害数值系统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6315075"/>
            <a:ext cx="1190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金瑞升学</a:t>
            </a: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11172825" y="63150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17 / 18</a:t>
            </a:r>
            <a:endParaRPr/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250" name="" descr="&lt;Slide style={{&#10;  width: '1280px',&#10;  height: '720px',&#10;  background: '#0A0F1E',&#10;  padding: 0,&#10;  flexDirection: 'column',&#10;  justifyContent: 'center',&#10;  alignItems: 'center',&#10;  position: 'relative',&#10;  overflow: 'hidden',&#10;}}&gt;&#10;  &lt;Box style={{&#10;    position: 'absolute',&#10;    top: -200,&#10;    left: '50%',&#10;    marginLeft: -300,&#10;    width: 600,&#10;    height: 600,&#10;    background: 'radial-gradient(circle at 50% 50%, rgba(212,175,55,0.16), transparent 60%)',&#10;    borderRadius: '50%',&#10;  }} /&gt;&#10;  &lt;Box style={{&#10;    position: 'absolute',&#10;    bottom: -160,&#10;    right: -160,&#10;    width: 500,&#10;    height: 500,&#10;    background: 'radial-gradient(circle at 50% 50%, rgba(37,99,235,0.14), transparent 60%)',&#10;    borderRadius: '50%',&#10;  }} /&gt;&#10;  &lt;Box style={{&#10;    position: 'relative',&#10;    zIndex: 2,&#10;    flexDirection: 'column',&#10;    alignItems: 'center',&#10;    gap: 28,&#10;  }}&gt;&#10;    &lt;Text style={{&#10;      fontSize: 56,&#10;      fontWeight: 'bold',&#10;      backgroundImage: 'linear-gradient(135deg, #D4AF37 0%, #F3D27A 100%)',&#10;      backgroundClip: 'text',&#10;      color: 'transparent',&#10;      textAlign: 'center',&#10;      fontFamily: '&quot;PingFang SC&quot;,&quot;Microsoft YaHei&quot;,sans-serif',&#10;    }}&gt;&#10;      金瑞金鹰 · 让成长有迹可循&#10;    &lt;/Text&gt;&#10;    &lt;Box style={{&#10;      width: 120,&#10;      height: 4,&#10;      background: 'linear-gradient(90deg, #D4AF37, #F3D27A)',&#10;      borderRadius: 2,&#10;    }} /&gt;&#10;    &lt;Text style={{&#10;      fontSize: 22,&#10;      color: '#C7D0E0',&#10;      textAlign: 'center',&#10;      lineHeight: 1.6,&#10;    }}&gt;&#10;      学生端激发自主训练 · 教师端提升管理效率 · 数据驱动每一次进步&#10;    &lt;/Text&gt;&#10;  &lt;/Box&gt;&#10;  &lt;Box style={{&#10;    position: 'absolute',&#10;    bottom: 32,&#10;    flexDirection: 'column',&#10;    alignItems: 'center',&#10;    gap: 6,&#10;  }}&gt;&#10;    &lt;Text style={{ fontSize: 18, fontWeight: 'bold', color: '#F8FAFC' }}&gt;金瑞升学 · 金鹰系统&lt;/Text&gt;&#10;    &lt;Text style={{ fontSize: 14, color: '#7A89A3' }}&gt;谢谢观看&lt;/Text&gt;&#10;  &lt;/Box&gt;&#10;  &lt;Text style={{&#10;    position: 'absolute',&#10;    bottom: 28,&#10;    right: 64,&#10;    fontSize: 14,&#10;    color: '#7A89A3',&#10;  }}&gt;18 / 18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A0F1E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3238500" y="-1905000"/>
            <a:ext cx="5715000" cy="5715000"/>
          </a:xfrm>
          <a:custGeom>
            <a:pathLst>
              <a:path w="600" h="600">
                <a:moveTo>
                  <a:pt x="584" y="204"/>
                </a:moveTo>
                <a:lnTo>
                  <a:pt x="587" y="211"/>
                </a:lnTo>
                <a:lnTo>
                  <a:pt x="589" y="218"/>
                </a:lnTo>
                <a:lnTo>
                  <a:pt x="591" y="225"/>
                </a:lnTo>
                <a:lnTo>
                  <a:pt x="592" y="232"/>
                </a:lnTo>
                <a:lnTo>
                  <a:pt x="594" y="240"/>
                </a:lnTo>
                <a:lnTo>
                  <a:pt x="595" y="247"/>
                </a:lnTo>
                <a:lnTo>
                  <a:pt x="597" y="254"/>
                </a:lnTo>
                <a:lnTo>
                  <a:pt x="598" y="262"/>
                </a:lnTo>
                <a:lnTo>
                  <a:pt x="598" y="269"/>
                </a:lnTo>
                <a:lnTo>
                  <a:pt x="599" y="277"/>
                </a:lnTo>
                <a:lnTo>
                  <a:pt x="600" y="285"/>
                </a:lnTo>
                <a:lnTo>
                  <a:pt x="600" y="292"/>
                </a:lnTo>
                <a:lnTo>
                  <a:pt x="600" y="300"/>
                </a:lnTo>
                <a:lnTo>
                  <a:pt x="600" y="308"/>
                </a:lnTo>
                <a:lnTo>
                  <a:pt x="600" y="315"/>
                </a:lnTo>
                <a:lnTo>
                  <a:pt x="599" y="323"/>
                </a:lnTo>
                <a:lnTo>
                  <a:pt x="598" y="331"/>
                </a:lnTo>
                <a:lnTo>
                  <a:pt x="598" y="338"/>
                </a:lnTo>
                <a:lnTo>
                  <a:pt x="597" y="346"/>
                </a:lnTo>
                <a:lnTo>
                  <a:pt x="595" y="353"/>
                </a:lnTo>
                <a:lnTo>
                  <a:pt x="594" y="360"/>
                </a:lnTo>
                <a:lnTo>
                  <a:pt x="592" y="368"/>
                </a:lnTo>
                <a:lnTo>
                  <a:pt x="591" y="375"/>
                </a:lnTo>
                <a:lnTo>
                  <a:pt x="589" y="382"/>
                </a:lnTo>
                <a:lnTo>
                  <a:pt x="587" y="389"/>
                </a:lnTo>
                <a:lnTo>
                  <a:pt x="584" y="396"/>
                </a:lnTo>
                <a:lnTo>
                  <a:pt x="582" y="403"/>
                </a:lnTo>
                <a:lnTo>
                  <a:pt x="579" y="410"/>
                </a:lnTo>
                <a:lnTo>
                  <a:pt x="576" y="417"/>
                </a:lnTo>
                <a:lnTo>
                  <a:pt x="573" y="423"/>
                </a:lnTo>
                <a:lnTo>
                  <a:pt x="570" y="430"/>
                </a:lnTo>
                <a:lnTo>
                  <a:pt x="567" y="437"/>
                </a:lnTo>
                <a:lnTo>
                  <a:pt x="564" y="443"/>
                </a:lnTo>
                <a:lnTo>
                  <a:pt x="560" y="449"/>
                </a:lnTo>
                <a:lnTo>
                  <a:pt x="557" y="456"/>
                </a:lnTo>
                <a:lnTo>
                  <a:pt x="553" y="462"/>
                </a:lnTo>
                <a:lnTo>
                  <a:pt x="549" y="468"/>
                </a:lnTo>
                <a:lnTo>
                  <a:pt x="545" y="474"/>
                </a:lnTo>
                <a:lnTo>
                  <a:pt x="540" y="479"/>
                </a:lnTo>
                <a:lnTo>
                  <a:pt x="536" y="485"/>
                </a:lnTo>
                <a:lnTo>
                  <a:pt x="531" y="491"/>
                </a:lnTo>
                <a:lnTo>
                  <a:pt x="527" y="496"/>
                </a:lnTo>
                <a:lnTo>
                  <a:pt x="522" y="502"/>
                </a:lnTo>
                <a:lnTo>
                  <a:pt x="517" y="507"/>
                </a:lnTo>
                <a:lnTo>
                  <a:pt x="512" y="512"/>
                </a:lnTo>
                <a:lnTo>
                  <a:pt x="507" y="517"/>
                </a:lnTo>
                <a:lnTo>
                  <a:pt x="502" y="522"/>
                </a:lnTo>
                <a:lnTo>
                  <a:pt x="496" y="527"/>
                </a:lnTo>
                <a:lnTo>
                  <a:pt x="491" y="531"/>
                </a:lnTo>
                <a:lnTo>
                  <a:pt x="485" y="536"/>
                </a:lnTo>
                <a:lnTo>
                  <a:pt x="479" y="540"/>
                </a:lnTo>
                <a:lnTo>
                  <a:pt x="474" y="545"/>
                </a:lnTo>
                <a:lnTo>
                  <a:pt x="468" y="549"/>
                </a:lnTo>
                <a:lnTo>
                  <a:pt x="462" y="553"/>
                </a:lnTo>
                <a:lnTo>
                  <a:pt x="456" y="557"/>
                </a:lnTo>
                <a:lnTo>
                  <a:pt x="449" y="560"/>
                </a:lnTo>
                <a:lnTo>
                  <a:pt x="443" y="564"/>
                </a:lnTo>
                <a:lnTo>
                  <a:pt x="437" y="567"/>
                </a:lnTo>
                <a:lnTo>
                  <a:pt x="430" y="570"/>
                </a:lnTo>
                <a:lnTo>
                  <a:pt x="423" y="573"/>
                </a:lnTo>
                <a:lnTo>
                  <a:pt x="417" y="576"/>
                </a:lnTo>
                <a:lnTo>
                  <a:pt x="410" y="579"/>
                </a:lnTo>
                <a:lnTo>
                  <a:pt x="403" y="582"/>
                </a:lnTo>
                <a:lnTo>
                  <a:pt x="396" y="584"/>
                </a:lnTo>
                <a:lnTo>
                  <a:pt x="389" y="587"/>
                </a:lnTo>
                <a:lnTo>
                  <a:pt x="382" y="589"/>
                </a:lnTo>
                <a:lnTo>
                  <a:pt x="375" y="591"/>
                </a:lnTo>
                <a:lnTo>
                  <a:pt x="368" y="592"/>
                </a:lnTo>
                <a:lnTo>
                  <a:pt x="360" y="594"/>
                </a:lnTo>
                <a:lnTo>
                  <a:pt x="353" y="595"/>
                </a:lnTo>
                <a:lnTo>
                  <a:pt x="346" y="597"/>
                </a:lnTo>
                <a:lnTo>
                  <a:pt x="338" y="598"/>
                </a:lnTo>
                <a:lnTo>
                  <a:pt x="331" y="598"/>
                </a:lnTo>
                <a:lnTo>
                  <a:pt x="323" y="599"/>
                </a:lnTo>
                <a:lnTo>
                  <a:pt x="315" y="600"/>
                </a:lnTo>
                <a:lnTo>
                  <a:pt x="308" y="600"/>
                </a:lnTo>
                <a:lnTo>
                  <a:pt x="300" y="600"/>
                </a:lnTo>
                <a:lnTo>
                  <a:pt x="292" y="600"/>
                </a:lnTo>
                <a:lnTo>
                  <a:pt x="285" y="600"/>
                </a:lnTo>
                <a:lnTo>
                  <a:pt x="277" y="599"/>
                </a:lnTo>
                <a:lnTo>
                  <a:pt x="269" y="598"/>
                </a:lnTo>
                <a:lnTo>
                  <a:pt x="262" y="598"/>
                </a:lnTo>
                <a:lnTo>
                  <a:pt x="254" y="597"/>
                </a:lnTo>
                <a:lnTo>
                  <a:pt x="247" y="595"/>
                </a:lnTo>
                <a:lnTo>
                  <a:pt x="240" y="594"/>
                </a:lnTo>
                <a:lnTo>
                  <a:pt x="232" y="592"/>
                </a:lnTo>
                <a:lnTo>
                  <a:pt x="225" y="591"/>
                </a:lnTo>
                <a:lnTo>
                  <a:pt x="218" y="589"/>
                </a:lnTo>
                <a:lnTo>
                  <a:pt x="211" y="587"/>
                </a:lnTo>
                <a:lnTo>
                  <a:pt x="204" y="584"/>
                </a:lnTo>
                <a:lnTo>
                  <a:pt x="197" y="582"/>
                </a:lnTo>
                <a:lnTo>
                  <a:pt x="190" y="579"/>
                </a:lnTo>
                <a:lnTo>
                  <a:pt x="183" y="576"/>
                </a:lnTo>
                <a:lnTo>
                  <a:pt x="177" y="573"/>
                </a:lnTo>
                <a:lnTo>
                  <a:pt x="170" y="570"/>
                </a:lnTo>
                <a:lnTo>
                  <a:pt x="163" y="567"/>
                </a:lnTo>
                <a:lnTo>
                  <a:pt x="157" y="564"/>
                </a:lnTo>
                <a:lnTo>
                  <a:pt x="151" y="560"/>
                </a:lnTo>
                <a:lnTo>
                  <a:pt x="144" y="557"/>
                </a:lnTo>
                <a:lnTo>
                  <a:pt x="138" y="553"/>
                </a:lnTo>
                <a:lnTo>
                  <a:pt x="132" y="549"/>
                </a:lnTo>
                <a:lnTo>
                  <a:pt x="126" y="545"/>
                </a:lnTo>
                <a:lnTo>
                  <a:pt x="121" y="540"/>
                </a:lnTo>
                <a:lnTo>
                  <a:pt x="115" y="536"/>
                </a:lnTo>
                <a:lnTo>
                  <a:pt x="109" y="531"/>
                </a:lnTo>
                <a:lnTo>
                  <a:pt x="104" y="527"/>
                </a:lnTo>
                <a:lnTo>
                  <a:pt x="98" y="522"/>
                </a:lnTo>
                <a:lnTo>
                  <a:pt x="93" y="517"/>
                </a:lnTo>
                <a:lnTo>
                  <a:pt x="88" y="512"/>
                </a:lnTo>
                <a:lnTo>
                  <a:pt x="83" y="507"/>
                </a:lnTo>
                <a:lnTo>
                  <a:pt x="78" y="502"/>
                </a:lnTo>
                <a:lnTo>
                  <a:pt x="73" y="496"/>
                </a:lnTo>
                <a:lnTo>
                  <a:pt x="69" y="491"/>
                </a:lnTo>
                <a:lnTo>
                  <a:pt x="64" y="485"/>
                </a:lnTo>
                <a:lnTo>
                  <a:pt x="60" y="479"/>
                </a:lnTo>
                <a:lnTo>
                  <a:pt x="55" y="474"/>
                </a:lnTo>
                <a:lnTo>
                  <a:pt x="51" y="468"/>
                </a:lnTo>
                <a:lnTo>
                  <a:pt x="47" y="462"/>
                </a:lnTo>
                <a:lnTo>
                  <a:pt x="43" y="456"/>
                </a:lnTo>
                <a:lnTo>
                  <a:pt x="40" y="449"/>
                </a:lnTo>
                <a:lnTo>
                  <a:pt x="36" y="443"/>
                </a:lnTo>
                <a:lnTo>
                  <a:pt x="33" y="437"/>
                </a:lnTo>
                <a:lnTo>
                  <a:pt x="30" y="430"/>
                </a:lnTo>
                <a:lnTo>
                  <a:pt x="27" y="423"/>
                </a:lnTo>
                <a:lnTo>
                  <a:pt x="24" y="417"/>
                </a:lnTo>
                <a:lnTo>
                  <a:pt x="21" y="410"/>
                </a:lnTo>
                <a:lnTo>
                  <a:pt x="18" y="403"/>
                </a:lnTo>
                <a:lnTo>
                  <a:pt x="16" y="396"/>
                </a:lnTo>
                <a:lnTo>
                  <a:pt x="13" y="389"/>
                </a:lnTo>
                <a:lnTo>
                  <a:pt x="11" y="382"/>
                </a:lnTo>
                <a:lnTo>
                  <a:pt x="9" y="375"/>
                </a:lnTo>
                <a:lnTo>
                  <a:pt x="8" y="368"/>
                </a:lnTo>
                <a:lnTo>
                  <a:pt x="6" y="360"/>
                </a:lnTo>
                <a:lnTo>
                  <a:pt x="5" y="353"/>
                </a:lnTo>
                <a:lnTo>
                  <a:pt x="3" y="346"/>
                </a:lnTo>
                <a:lnTo>
                  <a:pt x="2" y="338"/>
                </a:lnTo>
                <a:lnTo>
                  <a:pt x="2" y="331"/>
                </a:lnTo>
                <a:lnTo>
                  <a:pt x="1" y="323"/>
                </a:lnTo>
                <a:lnTo>
                  <a:pt x="0" y="315"/>
                </a:lnTo>
                <a:lnTo>
                  <a:pt x="0" y="308"/>
                </a:lnTo>
                <a:lnTo>
                  <a:pt x="0" y="300"/>
                </a:lnTo>
                <a:lnTo>
                  <a:pt x="0" y="292"/>
                </a:lnTo>
                <a:lnTo>
                  <a:pt x="0" y="285"/>
                </a:lnTo>
                <a:lnTo>
                  <a:pt x="1" y="277"/>
                </a:lnTo>
                <a:lnTo>
                  <a:pt x="2" y="269"/>
                </a:lnTo>
                <a:lnTo>
                  <a:pt x="2" y="262"/>
                </a:lnTo>
                <a:lnTo>
                  <a:pt x="3" y="254"/>
                </a:lnTo>
                <a:lnTo>
                  <a:pt x="5" y="247"/>
                </a:lnTo>
                <a:lnTo>
                  <a:pt x="6" y="240"/>
                </a:lnTo>
                <a:lnTo>
                  <a:pt x="8" y="232"/>
                </a:lnTo>
                <a:lnTo>
                  <a:pt x="9" y="225"/>
                </a:lnTo>
                <a:lnTo>
                  <a:pt x="11" y="218"/>
                </a:lnTo>
                <a:lnTo>
                  <a:pt x="13" y="211"/>
                </a:lnTo>
                <a:lnTo>
                  <a:pt x="16" y="204"/>
                </a:lnTo>
                <a:lnTo>
                  <a:pt x="17" y="200"/>
                </a:lnTo>
                <a:lnTo>
                  <a:pt x="583" y="200"/>
                </a:lnTo>
                <a:close/>
              </a:path>
            </a:pathLst>
          </a:custGeom>
          <a:gradFill>
            <a:gsLst>
              <a:gs pos="0">
                <a:srgbClr val="D4AF37">
                  <a:alpha val="16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53" name=""/>
          <p:cNvSpPr/>
          <p:nvPr/>
        </p:nvSpPr>
        <p:spPr>
          <a:xfrm rot="0" flipH="0" flipV="0">
            <a:off x="8953500" y="3619500"/>
            <a:ext cx="4762500" cy="4762500"/>
          </a:xfrm>
          <a:custGeom>
            <a:pathLst>
              <a:path w="500" h="500">
                <a:moveTo>
                  <a:pt x="256" y="0"/>
                </a:moveTo>
                <a:lnTo>
                  <a:pt x="263" y="0"/>
                </a:lnTo>
                <a:lnTo>
                  <a:pt x="269" y="1"/>
                </a:lnTo>
                <a:lnTo>
                  <a:pt x="276" y="1"/>
                </a:lnTo>
                <a:lnTo>
                  <a:pt x="282" y="2"/>
                </a:lnTo>
                <a:lnTo>
                  <a:pt x="288" y="3"/>
                </a:lnTo>
                <a:lnTo>
                  <a:pt x="294" y="4"/>
                </a:lnTo>
                <a:lnTo>
                  <a:pt x="300" y="5"/>
                </a:lnTo>
                <a:lnTo>
                  <a:pt x="306" y="6"/>
                </a:lnTo>
                <a:lnTo>
                  <a:pt x="312" y="8"/>
                </a:lnTo>
                <a:lnTo>
                  <a:pt x="318" y="9"/>
                </a:lnTo>
                <a:lnTo>
                  <a:pt x="324" y="11"/>
                </a:lnTo>
                <a:lnTo>
                  <a:pt x="330" y="13"/>
                </a:lnTo>
                <a:lnTo>
                  <a:pt x="336" y="15"/>
                </a:lnTo>
                <a:lnTo>
                  <a:pt x="340" y="17"/>
                </a:lnTo>
                <a:lnTo>
                  <a:pt x="340" y="340"/>
                </a:lnTo>
                <a:lnTo>
                  <a:pt x="17" y="340"/>
                </a:lnTo>
                <a:lnTo>
                  <a:pt x="15" y="336"/>
                </a:lnTo>
                <a:lnTo>
                  <a:pt x="13" y="330"/>
                </a:lnTo>
                <a:lnTo>
                  <a:pt x="11" y="324"/>
                </a:lnTo>
                <a:lnTo>
                  <a:pt x="9" y="318"/>
                </a:lnTo>
                <a:lnTo>
                  <a:pt x="8" y="312"/>
                </a:lnTo>
                <a:lnTo>
                  <a:pt x="6" y="306"/>
                </a:lnTo>
                <a:lnTo>
                  <a:pt x="5" y="300"/>
                </a:lnTo>
                <a:lnTo>
                  <a:pt x="4" y="294"/>
                </a:lnTo>
                <a:lnTo>
                  <a:pt x="3" y="288"/>
                </a:lnTo>
                <a:lnTo>
                  <a:pt x="2" y="282"/>
                </a:lnTo>
                <a:lnTo>
                  <a:pt x="1" y="276"/>
                </a:lnTo>
                <a:lnTo>
                  <a:pt x="1" y="269"/>
                </a:lnTo>
                <a:lnTo>
                  <a:pt x="0" y="263"/>
                </a:lnTo>
                <a:lnTo>
                  <a:pt x="0" y="256"/>
                </a:lnTo>
                <a:lnTo>
                  <a:pt x="0" y="250"/>
                </a:lnTo>
                <a:lnTo>
                  <a:pt x="0" y="244"/>
                </a:lnTo>
                <a:lnTo>
                  <a:pt x="0" y="237"/>
                </a:lnTo>
                <a:lnTo>
                  <a:pt x="1" y="231"/>
                </a:lnTo>
                <a:lnTo>
                  <a:pt x="1" y="224"/>
                </a:lnTo>
                <a:lnTo>
                  <a:pt x="2" y="218"/>
                </a:lnTo>
                <a:lnTo>
                  <a:pt x="3" y="212"/>
                </a:lnTo>
                <a:lnTo>
                  <a:pt x="4" y="206"/>
                </a:lnTo>
                <a:lnTo>
                  <a:pt x="5" y="200"/>
                </a:lnTo>
                <a:lnTo>
                  <a:pt x="6" y="194"/>
                </a:lnTo>
                <a:lnTo>
                  <a:pt x="8" y="188"/>
                </a:lnTo>
                <a:lnTo>
                  <a:pt x="9" y="182"/>
                </a:lnTo>
                <a:lnTo>
                  <a:pt x="11" y="176"/>
                </a:lnTo>
                <a:lnTo>
                  <a:pt x="13" y="170"/>
                </a:lnTo>
                <a:lnTo>
                  <a:pt x="15" y="164"/>
                </a:lnTo>
                <a:lnTo>
                  <a:pt x="17" y="158"/>
                </a:lnTo>
                <a:lnTo>
                  <a:pt x="20" y="153"/>
                </a:lnTo>
                <a:lnTo>
                  <a:pt x="22" y="147"/>
                </a:lnTo>
                <a:lnTo>
                  <a:pt x="25" y="142"/>
                </a:lnTo>
                <a:lnTo>
                  <a:pt x="27" y="136"/>
                </a:lnTo>
                <a:lnTo>
                  <a:pt x="30" y="131"/>
                </a:lnTo>
                <a:lnTo>
                  <a:pt x="33" y="126"/>
                </a:lnTo>
                <a:lnTo>
                  <a:pt x="36" y="120"/>
                </a:lnTo>
                <a:lnTo>
                  <a:pt x="39" y="115"/>
                </a:lnTo>
                <a:lnTo>
                  <a:pt x="43" y="110"/>
                </a:lnTo>
                <a:lnTo>
                  <a:pt x="46" y="105"/>
                </a:lnTo>
                <a:lnTo>
                  <a:pt x="50" y="100"/>
                </a:lnTo>
                <a:lnTo>
                  <a:pt x="53" y="96"/>
                </a:lnTo>
                <a:lnTo>
                  <a:pt x="57" y="91"/>
                </a:lnTo>
                <a:lnTo>
                  <a:pt x="61" y="86"/>
                </a:lnTo>
                <a:lnTo>
                  <a:pt x="65" y="82"/>
                </a:lnTo>
                <a:lnTo>
                  <a:pt x="69" y="78"/>
                </a:lnTo>
                <a:lnTo>
                  <a:pt x="73" y="73"/>
                </a:lnTo>
                <a:lnTo>
                  <a:pt x="78" y="69"/>
                </a:lnTo>
                <a:lnTo>
                  <a:pt x="82" y="65"/>
                </a:lnTo>
                <a:lnTo>
                  <a:pt x="86" y="61"/>
                </a:lnTo>
                <a:lnTo>
                  <a:pt x="91" y="57"/>
                </a:lnTo>
                <a:lnTo>
                  <a:pt x="96" y="53"/>
                </a:lnTo>
                <a:lnTo>
                  <a:pt x="100" y="50"/>
                </a:lnTo>
                <a:lnTo>
                  <a:pt x="105" y="46"/>
                </a:lnTo>
                <a:lnTo>
                  <a:pt x="110" y="43"/>
                </a:lnTo>
                <a:lnTo>
                  <a:pt x="115" y="39"/>
                </a:lnTo>
                <a:lnTo>
                  <a:pt x="120" y="36"/>
                </a:lnTo>
                <a:lnTo>
                  <a:pt x="126" y="33"/>
                </a:lnTo>
                <a:lnTo>
                  <a:pt x="131" y="30"/>
                </a:lnTo>
                <a:lnTo>
                  <a:pt x="136" y="27"/>
                </a:lnTo>
                <a:lnTo>
                  <a:pt x="142" y="25"/>
                </a:lnTo>
                <a:lnTo>
                  <a:pt x="147" y="22"/>
                </a:lnTo>
                <a:lnTo>
                  <a:pt x="153" y="20"/>
                </a:lnTo>
                <a:lnTo>
                  <a:pt x="158" y="17"/>
                </a:lnTo>
                <a:lnTo>
                  <a:pt x="164" y="15"/>
                </a:lnTo>
                <a:lnTo>
                  <a:pt x="170" y="13"/>
                </a:lnTo>
                <a:lnTo>
                  <a:pt x="176" y="11"/>
                </a:lnTo>
                <a:lnTo>
                  <a:pt x="182" y="9"/>
                </a:lnTo>
                <a:lnTo>
                  <a:pt x="188" y="8"/>
                </a:lnTo>
                <a:lnTo>
                  <a:pt x="194" y="6"/>
                </a:lnTo>
                <a:lnTo>
                  <a:pt x="200" y="5"/>
                </a:lnTo>
                <a:lnTo>
                  <a:pt x="206" y="4"/>
                </a:lnTo>
                <a:lnTo>
                  <a:pt x="212" y="3"/>
                </a:lnTo>
                <a:lnTo>
                  <a:pt x="218" y="2"/>
                </a:lnTo>
                <a:lnTo>
                  <a:pt x="224" y="1"/>
                </a:lnTo>
                <a:lnTo>
                  <a:pt x="231" y="1"/>
                </a:lnTo>
                <a:lnTo>
                  <a:pt x="237" y="0"/>
                </a:lnTo>
                <a:lnTo>
                  <a:pt x="244" y="0"/>
                </a:lnTo>
                <a:lnTo>
                  <a:pt x="250" y="0"/>
                </a:lnTo>
                <a:close/>
              </a:path>
            </a:pathLst>
          </a:custGeom>
          <a:gradFill>
            <a:gsLst>
              <a:gs pos="0">
                <a:srgbClr val="2563EB">
                  <a:alpha val="14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334000" y="6124575"/>
            <a:ext cx="1524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金瑞升学</a:t>
            </a:r>
            <a:r>
              <a:rPr lang="en-US" sz="1350" b="1">
                <a:solidFill>
                  <a:srgbClr val="F8FAFC"/>
                </a:solidFill>
                <a:latin typeface="Microsoft YaHei"/>
                <a:ea typeface="Microsoft YaHei"/>
              </a:rPr>
              <a:t> · </a:t>
            </a:r>
            <a:r>
              <a:rPr lang="zh-CN" sz="1350" b="1">
                <a:solidFill>
                  <a:srgbClr val="F8FAFC"/>
                </a:solidFill>
                <a:latin typeface="Microsoft YaHei"/>
                <a:ea typeface="Microsoft YaHei"/>
              </a:rPr>
              <a:t>金鹰系统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829300" y="6391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7A89A3"/>
                </a:solidFill>
                <a:latin typeface="Microsoft YaHei"/>
                <a:ea typeface="Microsoft YaHei"/>
              </a:rPr>
              <a:t>谢谢观看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11172825" y="6429375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7A89A3"/>
                </a:solidFill>
                <a:latin typeface="Microsoft YaHei"/>
                <a:ea typeface="Microsoft YaHei"/>
              </a:rPr>
              <a:t>18 / 18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2847975" y="2619375"/>
            <a:ext cx="6496050" cy="6477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42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金瑞金鹰</a:t>
            </a:r>
            <a:r>
              <a:rPr lang="en-US" sz="42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 · </a:t>
            </a:r>
            <a:r>
              <a:rPr lang="zh-CN" sz="4200" b="1">
                <a:gradFill>
                  <a:gsLst>
                    <a:gs pos="0">
                      <a:srgbClr val="D4AF37"/>
                    </a:gs>
                    <a:gs pos="100000">
                      <a:srgbClr val="F3D27A"/>
                    </a:gs>
                  </a:gsLst>
                  <a:lin ang="2700000" scaled="1"/>
                </a:gradFill>
                <a:latin typeface="PingFang SC"/>
                <a:ea typeface="PingFang SC"/>
              </a:rPr>
              <a:t>让成长有迹可循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5524500" y="3533775"/>
            <a:ext cx="1143000" cy="381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D4AF37"/>
              </a:gs>
              <a:gs pos="100000">
                <a:srgbClr val="F3D27A"/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3076575" y="3838575"/>
            <a:ext cx="6038850" cy="409575"/>
          </a:xfrm>
          <a:prstGeom prst="rect"/>
        </p:spPr>
        <p:txBody>
          <a:bodyPr wrap="none" lIns="0" tIns="0" rIns="0" bIns="0"/>
          <a:p>
            <a:pPr algn="ctr">
              <a:lnSpc>
                <a:spcPct val="160000"/>
              </a:lnSpc>
            </a:pPr>
            <a:r>
              <a:rPr lang="zh-CN" sz="1650">
                <a:solidFill>
                  <a:srgbClr val="C7D0E0"/>
                </a:solidFill>
                <a:latin typeface="Microsoft YaHei"/>
                <a:ea typeface="Microsoft YaHei"/>
              </a:rPr>
              <a:t>学生端激发自主训练</a:t>
            </a:r>
            <a:r>
              <a:rPr lang="en-US" sz="1650">
                <a:solidFill>
                  <a:srgbClr val="C7D0E0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C7D0E0"/>
                </a:solidFill>
                <a:latin typeface="Microsoft YaHei"/>
                <a:ea typeface="Microsoft YaHei"/>
              </a:rPr>
              <a:t>教师端提升管理效率</a:t>
            </a:r>
            <a:r>
              <a:rPr lang="en-US" sz="1650">
                <a:solidFill>
                  <a:srgbClr val="C7D0E0"/>
                </a:solidFill>
                <a:latin typeface="Microsoft YaHei"/>
                <a:ea typeface="Microsoft YaHei"/>
              </a:rPr>
              <a:t> · </a:t>
            </a:r>
            <a:r>
              <a:rPr lang="zh-CN" sz="1650">
                <a:solidFill>
                  <a:srgbClr val="C7D0E0"/>
                </a:solidFill>
                <a:latin typeface="Microsoft YaHei"/>
                <a:ea typeface="Microsoft YaHei"/>
              </a:rPr>
              <a:t>数据驱动每一次进步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2026-08-10T00:26:07Z</dcterms:created>
  <dcterms:modified xsi:type="dcterms:W3CDTF">2026-08-10T00:26:07Z</dcterms:modified>
</cp:coreProperties>
</file>